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8ae30b1a4cfc7fc228ce3c63044933d75e3def5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a0f053c5d798ae79d657dd1a49ab2a01f12539a2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f4a942982d83f087baacf7e62dd74bd47a360baa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e886c122b22261683c4ffca82ec35ad377fa3eb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69590a5bd9c537ef302e33ee27dda378624fddb8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9060aad93cf49c3008e90e90d6d85d6bd5c9bc46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f66e84bfb6ba7202169a87af91b6d79d20e479f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000" y="228600"/>
            <a:ext cx="9144000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868680"/>
            <a:ext cx="10972800" cy="5120640"/>
            <a:chOff x="609600" y="868680"/>
            <a:chExt cx="10972800" cy="5120640"/>
          </a:xfrm>
        </p:grpSpPr>
        <p:sp>
          <p:nvSpPr>
            <p:cNvPr id="3" name="rc3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4933717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6712537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491358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270178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4933717" y="2279081"/>
              <a:ext cx="3588428" cy="334651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4933717" y="1801007"/>
              <a:ext cx="4506764" cy="334651"/>
            </a:xfrm>
            <a:prstGeom prst="rect">
              <a:avLst/>
            </a:prstGeom>
            <a:solidFill>
              <a:srgbClr val="E7298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933717" y="2757155"/>
              <a:ext cx="1200624" cy="334651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933717" y="4669450"/>
              <a:ext cx="46938" cy="334651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933717" y="3235229"/>
              <a:ext cx="421941" cy="334651"/>
            </a:xfrm>
            <a:prstGeom prst="rect">
              <a:avLst/>
            </a:prstGeom>
            <a:solidFill>
              <a:srgbClr val="F0C41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933717" y="5147524"/>
              <a:ext cx="0" cy="334651"/>
            </a:xfrm>
            <a:prstGeom prst="rect">
              <a:avLst/>
            </a:prstGeom>
            <a:solidFill>
              <a:srgbClr val="1B9E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933717" y="3713302"/>
              <a:ext cx="160903" cy="334651"/>
            </a:xfrm>
            <a:prstGeom prst="rect">
              <a:avLst/>
            </a:prstGeom>
            <a:solidFill>
              <a:srgbClr val="5C3A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933717" y="4191376"/>
              <a:ext cx="60752" cy="334651"/>
            </a:xfrm>
            <a:prstGeom prst="rect">
              <a:avLst/>
            </a:prstGeom>
            <a:solidFill>
              <a:srgbClr val="D2B4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8621198" y="2380570"/>
              <a:ext cx="198104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3,097 of 15,350 acres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9533788" y="1902496"/>
              <a:ext cx="186610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1,160 of 4,579 acres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239141" y="2858644"/>
              <a:ext cx="209598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6,837 of 101,301 acres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065342" y="4770939"/>
              <a:ext cx="1693743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46 of 17,361 acres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5434599" y="3336718"/>
              <a:ext cx="1578803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 of 1,686 acres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012657" y="5249013"/>
              <a:ext cx="1578803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 of 30,813 acres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185055" y="3814791"/>
              <a:ext cx="1808683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609 of 67,380 acres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5084904" y="4292865"/>
              <a:ext cx="1808683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310 of 90,823 acres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23472" y="5248235"/>
              <a:ext cx="410775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TRG → The Nature Conservancy (Heartlands)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101748" y="4770162"/>
              <a:ext cx="272948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TRG → other owners / left CFP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217968" y="4292088"/>
              <a:ext cx="261326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Other private → same owner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463039" y="3814014"/>
              <a:ext cx="336819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Other private → new owner / left CFP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594323" y="3335940"/>
              <a:ext cx="1236908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Lyme → Lyme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470787" y="2857867"/>
              <a:ext cx="136044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TRG → Verdant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93150" y="2379793"/>
              <a:ext cx="403808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TRG → Verdant → American Songbird (2026)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66847" y="1901719"/>
              <a:ext cx="216438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Molpus → Molpus (kept)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788739" y="5704179"/>
              <a:ext cx="28995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09403" y="5704179"/>
              <a:ext cx="40626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288224" y="5704179"/>
              <a:ext cx="40626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067044" y="5704179"/>
              <a:ext cx="40626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23472" y="1353372"/>
              <a:ext cx="7336322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Acres in parcels whose average canopy fell more than 20 points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472" y="982552"/>
              <a:ext cx="5884895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Share of acres heavily cut, 2020–2025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868680"/>
            <a:ext cx="10972800" cy="5120640"/>
            <a:chOff x="609600" y="868680"/>
            <a:chExt cx="10972800" cy="5120640"/>
          </a:xfrm>
        </p:grpSpPr>
        <p:sp>
          <p:nvSpPr>
            <p:cNvPr id="3" name="rc3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868680"/>
              <a:ext cx="10972799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329762" y="5423503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329762" y="4710738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29762" y="3997974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9762" y="3285209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29762" y="2572444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329762" y="1859680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568043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203459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838876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474292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109708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745125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380541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15957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568043" y="3045736"/>
              <a:ext cx="4765622" cy="467152"/>
            </a:xfrm>
            <a:custGeom>
              <a:avLst/>
              <a:pathLst>
                <a:path w="4765622" h="467152">
                  <a:moveTo>
                    <a:pt x="0" y="280359"/>
                  </a:moveTo>
                  <a:lnTo>
                    <a:pt x="317708" y="251633"/>
                  </a:lnTo>
                  <a:lnTo>
                    <a:pt x="635416" y="185971"/>
                  </a:lnTo>
                  <a:lnTo>
                    <a:pt x="953124" y="118691"/>
                  </a:lnTo>
                  <a:lnTo>
                    <a:pt x="1270832" y="125834"/>
                  </a:lnTo>
                  <a:lnTo>
                    <a:pt x="1588540" y="123043"/>
                  </a:lnTo>
                  <a:lnTo>
                    <a:pt x="1906248" y="0"/>
                  </a:lnTo>
                  <a:lnTo>
                    <a:pt x="2223957" y="18903"/>
                  </a:lnTo>
                  <a:lnTo>
                    <a:pt x="2541665" y="48278"/>
                  </a:lnTo>
                  <a:lnTo>
                    <a:pt x="2859373" y="176135"/>
                  </a:lnTo>
                  <a:lnTo>
                    <a:pt x="3177081" y="234775"/>
                  </a:lnTo>
                  <a:lnTo>
                    <a:pt x="3494789" y="208723"/>
                  </a:lnTo>
                  <a:lnTo>
                    <a:pt x="3812497" y="158804"/>
                  </a:lnTo>
                  <a:lnTo>
                    <a:pt x="4130206" y="326233"/>
                  </a:lnTo>
                  <a:lnTo>
                    <a:pt x="4447914" y="261971"/>
                  </a:lnTo>
                  <a:lnTo>
                    <a:pt x="4765622" y="467152"/>
                  </a:lnTo>
                </a:path>
              </a:pathLst>
            </a:custGeom>
            <a:ln w="35231" cap="flat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68043" y="3238123"/>
              <a:ext cx="4765622" cy="714743"/>
            </a:xfrm>
            <a:custGeom>
              <a:avLst/>
              <a:pathLst>
                <a:path w="4765622" h="714743">
                  <a:moveTo>
                    <a:pt x="0" y="523039"/>
                  </a:moveTo>
                  <a:lnTo>
                    <a:pt x="317708" y="551727"/>
                  </a:lnTo>
                  <a:lnTo>
                    <a:pt x="635416" y="569112"/>
                  </a:lnTo>
                  <a:lnTo>
                    <a:pt x="953124" y="560503"/>
                  </a:lnTo>
                  <a:lnTo>
                    <a:pt x="1270832" y="714743"/>
                  </a:lnTo>
                  <a:lnTo>
                    <a:pt x="1588540" y="701461"/>
                  </a:lnTo>
                  <a:lnTo>
                    <a:pt x="1906248" y="263043"/>
                  </a:lnTo>
                  <a:lnTo>
                    <a:pt x="2223957" y="270039"/>
                  </a:lnTo>
                  <a:lnTo>
                    <a:pt x="2541665" y="382501"/>
                  </a:lnTo>
                  <a:lnTo>
                    <a:pt x="2859373" y="481317"/>
                  </a:lnTo>
                  <a:lnTo>
                    <a:pt x="3177081" y="689831"/>
                  </a:lnTo>
                  <a:lnTo>
                    <a:pt x="3494789" y="713801"/>
                  </a:lnTo>
                  <a:lnTo>
                    <a:pt x="3812497" y="536624"/>
                  </a:lnTo>
                  <a:lnTo>
                    <a:pt x="4130206" y="304544"/>
                  </a:lnTo>
                  <a:lnTo>
                    <a:pt x="4447914" y="58443"/>
                  </a:lnTo>
                  <a:lnTo>
                    <a:pt x="4765622" y="0"/>
                  </a:lnTo>
                </a:path>
              </a:pathLst>
            </a:custGeom>
            <a:ln w="35231" cap="flat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68043" y="3279658"/>
              <a:ext cx="4765622" cy="1318724"/>
            </a:xfrm>
            <a:custGeom>
              <a:avLst/>
              <a:pathLst>
                <a:path w="4765622" h="1318724">
                  <a:moveTo>
                    <a:pt x="0" y="936533"/>
                  </a:moveTo>
                  <a:lnTo>
                    <a:pt x="317708" y="891891"/>
                  </a:lnTo>
                  <a:lnTo>
                    <a:pt x="635416" y="811433"/>
                  </a:lnTo>
                  <a:lnTo>
                    <a:pt x="953124" y="714671"/>
                  </a:lnTo>
                  <a:lnTo>
                    <a:pt x="1270832" y="834787"/>
                  </a:lnTo>
                  <a:lnTo>
                    <a:pt x="1588540" y="823010"/>
                  </a:lnTo>
                  <a:lnTo>
                    <a:pt x="1906248" y="440355"/>
                  </a:lnTo>
                  <a:lnTo>
                    <a:pt x="2223957" y="417202"/>
                  </a:lnTo>
                  <a:lnTo>
                    <a:pt x="2541665" y="539026"/>
                  </a:lnTo>
                  <a:lnTo>
                    <a:pt x="2859373" y="491123"/>
                  </a:lnTo>
                  <a:lnTo>
                    <a:pt x="3177081" y="337538"/>
                  </a:lnTo>
                  <a:lnTo>
                    <a:pt x="3494789" y="179668"/>
                  </a:lnTo>
                  <a:lnTo>
                    <a:pt x="3812497" y="41889"/>
                  </a:lnTo>
                  <a:lnTo>
                    <a:pt x="4130206" y="0"/>
                  </a:lnTo>
                  <a:lnTo>
                    <a:pt x="4447914" y="269282"/>
                  </a:lnTo>
                  <a:lnTo>
                    <a:pt x="4765622" y="1318724"/>
                  </a:lnTo>
                </a:path>
              </a:pathLst>
            </a:custGeom>
            <a:ln w="35231" cap="flat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8043" y="2633214"/>
              <a:ext cx="4765622" cy="332416"/>
            </a:xfrm>
            <a:custGeom>
              <a:avLst/>
              <a:pathLst>
                <a:path w="4765622" h="332416">
                  <a:moveTo>
                    <a:pt x="0" y="332416"/>
                  </a:moveTo>
                  <a:lnTo>
                    <a:pt x="317708" y="309242"/>
                  </a:lnTo>
                  <a:lnTo>
                    <a:pt x="635416" y="265053"/>
                  </a:lnTo>
                  <a:lnTo>
                    <a:pt x="953124" y="229119"/>
                  </a:lnTo>
                  <a:lnTo>
                    <a:pt x="1270832" y="221831"/>
                  </a:lnTo>
                  <a:lnTo>
                    <a:pt x="1588540" y="206029"/>
                  </a:lnTo>
                  <a:lnTo>
                    <a:pt x="1906248" y="80495"/>
                  </a:lnTo>
                  <a:lnTo>
                    <a:pt x="2223957" y="92441"/>
                  </a:lnTo>
                  <a:lnTo>
                    <a:pt x="2541665" y="147481"/>
                  </a:lnTo>
                  <a:lnTo>
                    <a:pt x="2859373" y="179754"/>
                  </a:lnTo>
                  <a:lnTo>
                    <a:pt x="3177081" y="196505"/>
                  </a:lnTo>
                  <a:lnTo>
                    <a:pt x="3494789" y="174827"/>
                  </a:lnTo>
                  <a:lnTo>
                    <a:pt x="3812497" y="115518"/>
                  </a:lnTo>
                  <a:lnTo>
                    <a:pt x="4130206" y="98289"/>
                  </a:lnTo>
                  <a:lnTo>
                    <a:pt x="4447914" y="0"/>
                  </a:lnTo>
                  <a:lnTo>
                    <a:pt x="4765622" y="84900"/>
                  </a:lnTo>
                </a:path>
              </a:pathLst>
            </a:custGeom>
            <a:ln w="35231" cap="flat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530868" y="3723987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848576" y="3752675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166284" y="3770060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483993" y="3761451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01701" y="3915691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19409" y="390240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37117" y="3463991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754825" y="3470987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72533" y="358344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390241" y="3682265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707950" y="389077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025658" y="391474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343366" y="3737572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661074" y="3505492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5978782" y="3259391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296490" y="320094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530868" y="2928455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48576" y="2905282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66284" y="2861093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483993" y="2825158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801701" y="2817870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119409" y="2802069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437117" y="2676534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54825" y="2688481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072533" y="2743521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390241" y="2775794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07950" y="2792545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025658" y="2770867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343366" y="2711557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661074" y="2694328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978782" y="2596039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6296490" y="2680939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530868" y="4179016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1848576" y="413437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166284" y="4053917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83993" y="395715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801701" y="4077270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9409" y="4065493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437117" y="3682838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54825" y="365968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072533" y="3781509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390241" y="3733607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07950" y="3580022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025658" y="3422151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343366" y="3284373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661074" y="3242483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78782" y="351176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296490" y="4561208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530868" y="3288920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848576" y="3260194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166284" y="319453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483993" y="312725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801701" y="3134395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119409" y="3131604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117" y="3008561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754825" y="3027464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072533" y="3056840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390241" y="318469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07950" y="324333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025658" y="3217284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343366" y="3167365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661074" y="3334794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978782" y="327053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296490" y="3475713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tx87"/>
            <p:cNvSpPr/>
            <p:nvPr/>
          </p:nvSpPr>
          <p:spPr>
            <a:xfrm>
              <a:off x="994653" y="5356889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94653" y="4644124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65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94653" y="3931359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94653" y="3218595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75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994653" y="2505830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994653" y="1793066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85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335420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2010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970836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2012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606252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2014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3241669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2016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3877085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2018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4512501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5147918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2022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5783334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2024</a:t>
              </a:r>
            </a:p>
          </p:txBody>
        </p:sp>
        <p:sp>
          <p:nvSpPr>
            <p:cNvPr id="101" name="tx101"/>
            <p:cNvSpPr/>
            <p:nvPr/>
          </p:nvSpPr>
          <p:spPr>
            <a:xfrm rot="-5400000">
              <a:off x="-213878" y="3558244"/>
              <a:ext cx="2041398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Canopy cover (%)</a:t>
              </a:r>
            </a:p>
          </p:txBody>
        </p:sp>
        <p:sp>
          <p:nvSpPr>
            <p:cNvPr id="102" name="pl102"/>
            <p:cNvSpPr/>
            <p:nvPr/>
          </p:nvSpPr>
          <p:spPr>
            <a:xfrm>
              <a:off x="6935511" y="3312407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986118" y="327523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935511" y="353186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986118" y="349468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935511" y="375131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6986118" y="3714144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935511" y="397077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986118" y="3933600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7246894" y="3245793"/>
              <a:ext cx="136044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Verdant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246894" y="3465249"/>
              <a:ext cx="410775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The Nature Conservancy (Heartlands)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7246894" y="3684705"/>
              <a:ext cx="403808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Verdant → American Songbird (2026)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7246894" y="3904161"/>
              <a:ext cx="261326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Other private → same owner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23472" y="1353372"/>
              <a:ext cx="6860560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USFS Tree Canopy Cover, all 30 m cells in each group's land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723472" y="982552"/>
              <a:ext cx="5693145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Average tree canopy cover, by group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868680"/>
            <a:ext cx="10972800" cy="5120640"/>
            <a:chOff x="609600" y="868680"/>
            <a:chExt cx="10972800" cy="5120640"/>
          </a:xfrm>
        </p:grpSpPr>
        <p:sp>
          <p:nvSpPr>
            <p:cNvPr id="3" name="rc3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387826" y="5423503"/>
              <a:ext cx="5184120" cy="0"/>
            </a:xfrm>
            <a:custGeom>
              <a:avLst/>
              <a:pathLst>
                <a:path w="5184120" h="0">
                  <a:moveTo>
                    <a:pt x="0" y="0"/>
                  </a:moveTo>
                  <a:lnTo>
                    <a:pt x="5184120" y="0"/>
                  </a:lnTo>
                  <a:lnTo>
                    <a:pt x="518412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387826" y="4703079"/>
              <a:ext cx="5184120" cy="0"/>
            </a:xfrm>
            <a:custGeom>
              <a:avLst/>
              <a:pathLst>
                <a:path w="5184120" h="0">
                  <a:moveTo>
                    <a:pt x="0" y="0"/>
                  </a:moveTo>
                  <a:lnTo>
                    <a:pt x="5184120" y="0"/>
                  </a:lnTo>
                  <a:lnTo>
                    <a:pt x="518412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87826" y="3982655"/>
              <a:ext cx="5184120" cy="0"/>
            </a:xfrm>
            <a:custGeom>
              <a:avLst/>
              <a:pathLst>
                <a:path w="5184120" h="0">
                  <a:moveTo>
                    <a:pt x="0" y="0"/>
                  </a:moveTo>
                  <a:lnTo>
                    <a:pt x="5184120" y="0"/>
                  </a:lnTo>
                  <a:lnTo>
                    <a:pt x="518412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87826" y="3262231"/>
              <a:ext cx="5184120" cy="0"/>
            </a:xfrm>
            <a:custGeom>
              <a:avLst/>
              <a:pathLst>
                <a:path w="5184120" h="0">
                  <a:moveTo>
                    <a:pt x="0" y="0"/>
                  </a:moveTo>
                  <a:lnTo>
                    <a:pt x="5184120" y="0"/>
                  </a:lnTo>
                  <a:lnTo>
                    <a:pt x="518412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87826" y="2541807"/>
              <a:ext cx="5184120" cy="0"/>
            </a:xfrm>
            <a:custGeom>
              <a:avLst/>
              <a:pathLst>
                <a:path w="5184120" h="0">
                  <a:moveTo>
                    <a:pt x="0" y="0"/>
                  </a:moveTo>
                  <a:lnTo>
                    <a:pt x="5184120" y="0"/>
                  </a:lnTo>
                  <a:lnTo>
                    <a:pt x="518412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387826" y="1821383"/>
              <a:ext cx="5184120" cy="0"/>
            </a:xfrm>
            <a:custGeom>
              <a:avLst/>
              <a:pathLst>
                <a:path w="5184120" h="0">
                  <a:moveTo>
                    <a:pt x="0" y="0"/>
                  </a:moveTo>
                  <a:lnTo>
                    <a:pt x="5184120" y="0"/>
                  </a:lnTo>
                  <a:lnTo>
                    <a:pt x="518412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623468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147117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670765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194414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718062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41711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65359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289008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812656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336305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468" y="1971831"/>
              <a:ext cx="4712836" cy="3010064"/>
            </a:xfrm>
            <a:custGeom>
              <a:avLst/>
              <a:pathLst>
                <a:path w="4712836" h="3010064">
                  <a:moveTo>
                    <a:pt x="0" y="3010064"/>
                  </a:moveTo>
                  <a:lnTo>
                    <a:pt x="523648" y="2593290"/>
                  </a:lnTo>
                  <a:lnTo>
                    <a:pt x="1047297" y="2802791"/>
                  </a:lnTo>
                  <a:lnTo>
                    <a:pt x="1570945" y="2793240"/>
                  </a:lnTo>
                  <a:lnTo>
                    <a:pt x="2094594" y="2108063"/>
                  </a:lnTo>
                  <a:lnTo>
                    <a:pt x="2618242" y="2079408"/>
                  </a:lnTo>
                  <a:lnTo>
                    <a:pt x="3141891" y="2353542"/>
                  </a:lnTo>
                  <a:lnTo>
                    <a:pt x="3665539" y="1073612"/>
                  </a:lnTo>
                  <a:lnTo>
                    <a:pt x="4189188" y="0"/>
                  </a:lnTo>
                  <a:lnTo>
                    <a:pt x="4712836" y="2729880"/>
                  </a:lnTo>
                </a:path>
              </a:pathLst>
            </a:custGeom>
            <a:ln w="35231" cap="flat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23468" y="2181664"/>
              <a:ext cx="4712836" cy="3241838"/>
            </a:xfrm>
            <a:custGeom>
              <a:avLst/>
              <a:pathLst>
                <a:path w="4712836" h="3241838">
                  <a:moveTo>
                    <a:pt x="0" y="3140531"/>
                  </a:moveTo>
                  <a:lnTo>
                    <a:pt x="523648" y="2869066"/>
                  </a:lnTo>
                  <a:lnTo>
                    <a:pt x="1047297" y="2231714"/>
                  </a:lnTo>
                  <a:lnTo>
                    <a:pt x="1570945" y="2101883"/>
                  </a:lnTo>
                  <a:lnTo>
                    <a:pt x="2094594" y="1382895"/>
                  </a:lnTo>
                  <a:lnTo>
                    <a:pt x="2618242" y="0"/>
                  </a:lnTo>
                  <a:lnTo>
                    <a:pt x="3141891" y="424901"/>
                  </a:lnTo>
                  <a:lnTo>
                    <a:pt x="3665539" y="2554324"/>
                  </a:lnTo>
                  <a:lnTo>
                    <a:pt x="4189188" y="3239871"/>
                  </a:lnTo>
                  <a:lnTo>
                    <a:pt x="4712836" y="3241838"/>
                  </a:lnTo>
                </a:path>
              </a:pathLst>
            </a:custGeom>
            <a:ln w="35231" cap="flat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3468" y="1859680"/>
              <a:ext cx="4712836" cy="3496896"/>
            </a:xfrm>
            <a:custGeom>
              <a:avLst/>
              <a:pathLst>
                <a:path w="4712836" h="3496896">
                  <a:moveTo>
                    <a:pt x="0" y="2768143"/>
                  </a:moveTo>
                  <a:lnTo>
                    <a:pt x="523648" y="2913150"/>
                  </a:lnTo>
                  <a:lnTo>
                    <a:pt x="1047297" y="2572942"/>
                  </a:lnTo>
                  <a:lnTo>
                    <a:pt x="1570945" y="509383"/>
                  </a:lnTo>
                  <a:lnTo>
                    <a:pt x="2094594" y="3067453"/>
                  </a:lnTo>
                  <a:lnTo>
                    <a:pt x="2618242" y="3496896"/>
                  </a:lnTo>
                  <a:lnTo>
                    <a:pt x="3141891" y="2528324"/>
                  </a:lnTo>
                  <a:lnTo>
                    <a:pt x="3665539" y="819846"/>
                  </a:lnTo>
                  <a:lnTo>
                    <a:pt x="4189188" y="2463257"/>
                  </a:lnTo>
                  <a:lnTo>
                    <a:pt x="4712836" y="0"/>
                  </a:lnTo>
                </a:path>
              </a:pathLst>
            </a:custGeom>
            <a:ln w="35231" cap="flat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23468" y="4918668"/>
              <a:ext cx="4712836" cy="463379"/>
            </a:xfrm>
            <a:custGeom>
              <a:avLst/>
              <a:pathLst>
                <a:path w="4712836" h="463379">
                  <a:moveTo>
                    <a:pt x="0" y="420871"/>
                  </a:moveTo>
                  <a:lnTo>
                    <a:pt x="523648" y="239594"/>
                  </a:lnTo>
                  <a:lnTo>
                    <a:pt x="1047297" y="274374"/>
                  </a:lnTo>
                  <a:lnTo>
                    <a:pt x="1570945" y="0"/>
                  </a:lnTo>
                  <a:lnTo>
                    <a:pt x="2094594" y="359391"/>
                  </a:lnTo>
                  <a:lnTo>
                    <a:pt x="2618242" y="244512"/>
                  </a:lnTo>
                  <a:lnTo>
                    <a:pt x="3141891" y="268753"/>
                  </a:lnTo>
                  <a:lnTo>
                    <a:pt x="3665539" y="41103"/>
                  </a:lnTo>
                  <a:lnTo>
                    <a:pt x="4189188" y="397333"/>
                  </a:lnTo>
                  <a:lnTo>
                    <a:pt x="4712836" y="463379"/>
                  </a:lnTo>
                </a:path>
              </a:pathLst>
            </a:custGeom>
            <a:ln w="35231" cap="flat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586293" y="4944720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09942" y="4527947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33590" y="4737448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57239" y="472789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680887" y="4042719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204536" y="4014064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28184" y="4288199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51833" y="3008269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775481" y="193465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299130" y="466453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586293" y="5302364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109942" y="5121087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33590" y="5155867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57239" y="4881493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680887" y="5240885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204536" y="5126006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728184" y="5150246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251833" y="4922596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775481" y="5278826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299130" y="5344873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586293" y="5285020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109942" y="5013555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633590" y="4376204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57239" y="4246373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680887" y="3527385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204536" y="214448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728184" y="2569390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51833" y="4698814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775481" y="5384360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6299130" y="538632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586293" y="4590649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09942" y="4735656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33590" y="4395447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157239" y="2331888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0887" y="4889958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04536" y="5319401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728184" y="4350830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251833" y="2642351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775481" y="4285763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299130" y="182250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tx65"/>
            <p:cNvSpPr/>
            <p:nvPr/>
          </p:nvSpPr>
          <p:spPr>
            <a:xfrm>
              <a:off x="994653" y="5356889"/>
              <a:ext cx="29068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94653" y="4636465"/>
              <a:ext cx="29068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0.5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94653" y="3916041"/>
              <a:ext cx="29068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1.0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94653" y="3195617"/>
              <a:ext cx="29068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1.5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94653" y="2475193"/>
              <a:ext cx="29068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2.0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53" y="1754769"/>
              <a:ext cx="29068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2.5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390845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2015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914493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2016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438142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2017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2961790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2018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485439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2019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009087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4532736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2021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5056384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2022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5580033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2023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6103681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2024</a:t>
              </a:r>
            </a:p>
          </p:txBody>
        </p:sp>
        <p:sp>
          <p:nvSpPr>
            <p:cNvPr id="81" name="tx81"/>
            <p:cNvSpPr/>
            <p:nvPr/>
          </p:nvSpPr>
          <p:spPr>
            <a:xfrm rot="-5400000">
              <a:off x="-198242" y="3558244"/>
              <a:ext cx="2010125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% of area cleared</a:t>
              </a:r>
            </a:p>
          </p:txBody>
        </p:sp>
        <p:sp>
          <p:nvSpPr>
            <p:cNvPr id="82" name="pl82"/>
            <p:cNvSpPr/>
            <p:nvPr/>
          </p:nvSpPr>
          <p:spPr>
            <a:xfrm>
              <a:off x="6935511" y="3312407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986118" y="327523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935511" y="353186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986118" y="349468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6935511" y="375131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986118" y="3714144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935511" y="397077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986118" y="3933600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tx90"/>
            <p:cNvSpPr/>
            <p:nvPr/>
          </p:nvSpPr>
          <p:spPr>
            <a:xfrm>
              <a:off x="7246894" y="3245793"/>
              <a:ext cx="136044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Verdant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246894" y="3465249"/>
              <a:ext cx="410775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The Nature Conservancy (Heartlands)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7246894" y="3684705"/>
              <a:ext cx="403808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Verdant → American Songbird (2026)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7246894" y="3904161"/>
              <a:ext cx="261326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Other private → same owner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23472" y="1353372"/>
              <a:ext cx="5879226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Hansen Global Forest Change (heavy clearing only)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723472" y="982552"/>
              <a:ext cx="6992233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Share of each group's land cleared each year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868680"/>
            <a:ext cx="10972800" cy="5120640"/>
            <a:chOff x="609600" y="868680"/>
            <a:chExt cx="10972800" cy="5120640"/>
          </a:xfrm>
        </p:grpSpPr>
        <p:sp>
          <p:nvSpPr>
            <p:cNvPr id="3" name="rc3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868680"/>
              <a:ext cx="10972799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329762" y="5427742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329762" y="4016396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29762" y="2605050"/>
              <a:ext cx="5242184" cy="0"/>
            </a:xfrm>
            <a:custGeom>
              <a:avLst/>
              <a:pathLst>
                <a:path w="5242184" h="0">
                  <a:moveTo>
                    <a:pt x="0" y="0"/>
                  </a:moveTo>
                  <a:lnTo>
                    <a:pt x="5242184" y="0"/>
                  </a:lnTo>
                  <a:lnTo>
                    <a:pt x="5242184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68043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03459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8876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474292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09708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45125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380541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015957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568043" y="3969431"/>
              <a:ext cx="4765622" cy="1324018"/>
            </a:xfrm>
            <a:custGeom>
              <a:avLst/>
              <a:pathLst>
                <a:path w="4765622" h="1324018">
                  <a:moveTo>
                    <a:pt x="0" y="936175"/>
                  </a:moveTo>
                  <a:lnTo>
                    <a:pt x="317708" y="1070716"/>
                  </a:lnTo>
                  <a:lnTo>
                    <a:pt x="635416" y="736203"/>
                  </a:lnTo>
                  <a:lnTo>
                    <a:pt x="953124" y="1324018"/>
                  </a:lnTo>
                  <a:lnTo>
                    <a:pt x="1270832" y="1295139"/>
                  </a:lnTo>
                  <a:lnTo>
                    <a:pt x="1588540" y="1034851"/>
                  </a:lnTo>
                  <a:lnTo>
                    <a:pt x="1906248" y="691169"/>
                  </a:lnTo>
                  <a:lnTo>
                    <a:pt x="2223957" y="681688"/>
                  </a:lnTo>
                  <a:lnTo>
                    <a:pt x="2541665" y="1121426"/>
                  </a:lnTo>
                  <a:lnTo>
                    <a:pt x="2859373" y="716243"/>
                  </a:lnTo>
                  <a:lnTo>
                    <a:pt x="3177081" y="791467"/>
                  </a:lnTo>
                  <a:lnTo>
                    <a:pt x="3494789" y="597919"/>
                  </a:lnTo>
                  <a:lnTo>
                    <a:pt x="3812497" y="518953"/>
                  </a:lnTo>
                  <a:lnTo>
                    <a:pt x="4130206" y="0"/>
                  </a:lnTo>
                  <a:lnTo>
                    <a:pt x="4447914" y="925945"/>
                  </a:lnTo>
                  <a:lnTo>
                    <a:pt x="4765622" y="572720"/>
                  </a:lnTo>
                </a:path>
              </a:pathLst>
            </a:custGeom>
            <a:ln w="35231" cap="flat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568043" y="3424774"/>
              <a:ext cx="4765622" cy="1998728"/>
            </a:xfrm>
            <a:custGeom>
              <a:avLst/>
              <a:pathLst>
                <a:path w="4765622" h="1998728">
                  <a:moveTo>
                    <a:pt x="0" y="1795637"/>
                  </a:moveTo>
                  <a:lnTo>
                    <a:pt x="317708" y="1606420"/>
                  </a:lnTo>
                  <a:lnTo>
                    <a:pt x="635416" y="1635901"/>
                  </a:lnTo>
                  <a:lnTo>
                    <a:pt x="953124" y="1595630"/>
                  </a:lnTo>
                  <a:lnTo>
                    <a:pt x="1270832" y="1947666"/>
                  </a:lnTo>
                  <a:lnTo>
                    <a:pt x="1588540" y="1832633"/>
                  </a:lnTo>
                  <a:lnTo>
                    <a:pt x="1906248" y="1515087"/>
                  </a:lnTo>
                  <a:lnTo>
                    <a:pt x="2223957" y="1614898"/>
                  </a:lnTo>
                  <a:lnTo>
                    <a:pt x="2541665" y="1073259"/>
                  </a:lnTo>
                  <a:lnTo>
                    <a:pt x="2859373" y="1411037"/>
                  </a:lnTo>
                  <a:lnTo>
                    <a:pt x="3177081" y="686539"/>
                  </a:lnTo>
                  <a:lnTo>
                    <a:pt x="3494789" y="0"/>
                  </a:lnTo>
                  <a:lnTo>
                    <a:pt x="3812497" y="1659023"/>
                  </a:lnTo>
                  <a:lnTo>
                    <a:pt x="4130206" y="1998728"/>
                  </a:lnTo>
                  <a:lnTo>
                    <a:pt x="4447914" y="1889668"/>
                  </a:lnTo>
                  <a:lnTo>
                    <a:pt x="4765622" y="1795252"/>
                  </a:lnTo>
                </a:path>
              </a:pathLst>
            </a:custGeom>
            <a:ln w="35231" cap="flat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68043" y="1859680"/>
              <a:ext cx="4765622" cy="3562598"/>
            </a:xfrm>
            <a:custGeom>
              <a:avLst/>
              <a:pathLst>
                <a:path w="4765622" h="3562598">
                  <a:moveTo>
                    <a:pt x="0" y="2091597"/>
                  </a:moveTo>
                  <a:lnTo>
                    <a:pt x="317708" y="2731859"/>
                  </a:lnTo>
                  <a:lnTo>
                    <a:pt x="635416" y="3286899"/>
                  </a:lnTo>
                  <a:lnTo>
                    <a:pt x="953124" y="3425659"/>
                  </a:lnTo>
                  <a:lnTo>
                    <a:pt x="1270832" y="3256307"/>
                  </a:lnTo>
                  <a:lnTo>
                    <a:pt x="1588540" y="2714742"/>
                  </a:lnTo>
                  <a:lnTo>
                    <a:pt x="1906248" y="3092417"/>
                  </a:lnTo>
                  <a:lnTo>
                    <a:pt x="2223957" y="2564328"/>
                  </a:lnTo>
                  <a:lnTo>
                    <a:pt x="2541665" y="2541383"/>
                  </a:lnTo>
                  <a:lnTo>
                    <a:pt x="2859373" y="3193300"/>
                  </a:lnTo>
                  <a:lnTo>
                    <a:pt x="3177081" y="3562598"/>
                  </a:lnTo>
                  <a:lnTo>
                    <a:pt x="3494789" y="3092417"/>
                  </a:lnTo>
                  <a:lnTo>
                    <a:pt x="3812497" y="2942731"/>
                  </a:lnTo>
                  <a:lnTo>
                    <a:pt x="4130206" y="3092417"/>
                  </a:lnTo>
                  <a:lnTo>
                    <a:pt x="4447914" y="1919695"/>
                  </a:lnTo>
                  <a:lnTo>
                    <a:pt x="4765622" y="0"/>
                  </a:lnTo>
                </a:path>
              </a:pathLst>
            </a:custGeom>
            <a:ln w="35231" cap="flat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568043" y="4080863"/>
              <a:ext cx="4765622" cy="1279775"/>
            </a:xfrm>
            <a:custGeom>
              <a:avLst/>
              <a:pathLst>
                <a:path w="4765622" h="1279775">
                  <a:moveTo>
                    <a:pt x="0" y="685001"/>
                  </a:moveTo>
                  <a:lnTo>
                    <a:pt x="317708" y="0"/>
                  </a:lnTo>
                  <a:lnTo>
                    <a:pt x="635416" y="645015"/>
                  </a:lnTo>
                  <a:lnTo>
                    <a:pt x="953124" y="1222927"/>
                  </a:lnTo>
                  <a:lnTo>
                    <a:pt x="1270832" y="1279775"/>
                  </a:lnTo>
                  <a:lnTo>
                    <a:pt x="1588540" y="1158714"/>
                  </a:lnTo>
                  <a:lnTo>
                    <a:pt x="1906248" y="842745"/>
                  </a:lnTo>
                  <a:lnTo>
                    <a:pt x="2223957" y="807025"/>
                  </a:lnTo>
                  <a:lnTo>
                    <a:pt x="2541665" y="931459"/>
                  </a:lnTo>
                  <a:lnTo>
                    <a:pt x="2859373" y="770136"/>
                  </a:lnTo>
                  <a:lnTo>
                    <a:pt x="3177081" y="860501"/>
                  </a:lnTo>
                  <a:lnTo>
                    <a:pt x="3494789" y="395529"/>
                  </a:lnTo>
                  <a:lnTo>
                    <a:pt x="3812497" y="358571"/>
                  </a:lnTo>
                  <a:lnTo>
                    <a:pt x="4130206" y="422714"/>
                  </a:lnTo>
                  <a:lnTo>
                    <a:pt x="4447914" y="1186312"/>
                  </a:lnTo>
                  <a:lnTo>
                    <a:pt x="4765622" y="673576"/>
                  </a:lnTo>
                </a:path>
              </a:pathLst>
            </a:custGeom>
            <a:ln w="35231" cap="flat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30868" y="5183237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848576" y="4994020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166284" y="5023500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83993" y="498322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01701" y="5335266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119409" y="5220233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437117" y="4902686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754825" y="500249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2533" y="446085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390241" y="4798636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07950" y="407413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025658" y="338759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343366" y="5046623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61074" y="538632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978782" y="5277267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296490" y="5182851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530868" y="4728690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848576" y="4043688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166284" y="4688703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83993" y="5266615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01701" y="5323464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19409" y="5202403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437117" y="4886434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754825" y="4850714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072533" y="4975147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390241" y="4813825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707950" y="4904190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25658" y="4439218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343366" y="4402259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661074" y="4466403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978782" y="5230001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6296490" y="4717265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530868" y="3914102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48576" y="455436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66284" y="510940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483993" y="524816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801701" y="5078812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119409" y="4537247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437117" y="4914922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754825" y="4386833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072533" y="4363888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390241" y="501580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707950" y="5385104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025658" y="4914922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343366" y="4765236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661074" y="4914922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978782" y="3742200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96490" y="182250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530868" y="486843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848576" y="5002973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166284" y="4668460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83993" y="5256275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01701" y="522739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119409" y="4967108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437117" y="462342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754825" y="4613945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072533" y="5053683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390241" y="4648500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707950" y="4723723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025658" y="453017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343366" y="4451210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61074" y="393225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978782" y="485820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296490" y="4504977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1110965" y="5361128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10965" y="3949782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94653" y="2538436"/>
              <a:ext cx="23262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335420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970836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2012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606252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2014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241669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2016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3877085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2018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4512501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5147918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2022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5783334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2024</a:t>
              </a:r>
            </a:p>
          </p:txBody>
        </p:sp>
        <p:sp>
          <p:nvSpPr>
            <p:cNvPr id="95" name="tx95"/>
            <p:cNvSpPr/>
            <p:nvPr/>
          </p:nvSpPr>
          <p:spPr>
            <a:xfrm rot="-5400000">
              <a:off x="-319400" y="3558244"/>
              <a:ext cx="2252441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% of area disturbed</a:t>
              </a:r>
            </a:p>
          </p:txBody>
        </p:sp>
        <p:sp>
          <p:nvSpPr>
            <p:cNvPr id="96" name="pl96"/>
            <p:cNvSpPr/>
            <p:nvPr/>
          </p:nvSpPr>
          <p:spPr>
            <a:xfrm>
              <a:off x="6935511" y="3312407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986118" y="327523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935511" y="353186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986118" y="349468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935511" y="375131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986118" y="3714144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935511" y="397077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986118" y="3933600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tx104"/>
            <p:cNvSpPr/>
            <p:nvPr/>
          </p:nvSpPr>
          <p:spPr>
            <a:xfrm>
              <a:off x="7246894" y="3245793"/>
              <a:ext cx="136044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Verdant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246894" y="3465249"/>
              <a:ext cx="410775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The Nature Conservancy (Heartlands)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7246894" y="3684705"/>
              <a:ext cx="403808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Verdant → American Songbird (2026)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246894" y="3904161"/>
              <a:ext cx="261326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Other private → same owner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23472" y="1353372"/>
              <a:ext cx="4576572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LANDFIRE Annual Disturbance, all types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23472" y="982552"/>
              <a:ext cx="7340803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Share of each group's land disturbed each year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61360" y="777240"/>
            <a:ext cx="56692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61360" y="777240"/>
            <a:ext cx="56692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61360" y="777240"/>
            <a:ext cx="56692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61360" y="777240"/>
            <a:ext cx="56692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868680"/>
            <a:ext cx="10972800" cy="5120640"/>
            <a:chOff x="609600" y="868680"/>
            <a:chExt cx="10972800" cy="5120640"/>
          </a:xfrm>
        </p:grpSpPr>
        <p:sp>
          <p:nvSpPr>
            <p:cNvPr id="3" name="rc3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620450" y="4780386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620450" y="3882437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620450" y="2984488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0450" y="2086540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841682" y="4579888"/>
              <a:ext cx="153989" cy="200498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252321" y="4685329"/>
              <a:ext cx="153989" cy="95056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662960" y="4656173"/>
              <a:ext cx="153989" cy="124212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073599" y="4739248"/>
              <a:ext cx="153989" cy="41138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484239" y="4629014"/>
              <a:ext cx="153989" cy="151371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894878" y="4370204"/>
              <a:ext cx="153989" cy="410182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305517" y="4317484"/>
              <a:ext cx="153989" cy="462902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716156" y="4025523"/>
              <a:ext cx="153989" cy="754863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5126796" y="3463969"/>
              <a:ext cx="153989" cy="1316417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5537435" y="3636509"/>
              <a:ext cx="153989" cy="1143877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5948074" y="4501207"/>
              <a:ext cx="153989" cy="279179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005937" y="3010252"/>
              <a:ext cx="153989" cy="1770133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416577" y="4177694"/>
              <a:ext cx="153989" cy="602692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827216" y="2634019"/>
              <a:ext cx="153989" cy="2146367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237855" y="4224823"/>
              <a:ext cx="153989" cy="555563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648494" y="4123376"/>
              <a:ext cx="153989" cy="657010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059134" y="4086232"/>
              <a:ext cx="153989" cy="694154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469773" y="3049793"/>
              <a:ext cx="153989" cy="1730593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880412" y="3321783"/>
              <a:ext cx="153989" cy="1458603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291051" y="2768616"/>
              <a:ext cx="153989" cy="2011769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701691" y="3281444"/>
              <a:ext cx="153989" cy="1498942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6112330" y="4555525"/>
              <a:ext cx="153989" cy="224861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601425" y="4780386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01425" y="3882437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6601425" y="2984488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601425" y="2086540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822656" y="4609444"/>
              <a:ext cx="153989" cy="170942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233296" y="4640597"/>
              <a:ext cx="153989" cy="139789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43935" y="4567507"/>
              <a:ext cx="153989" cy="212879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8054574" y="4124175"/>
              <a:ext cx="153989" cy="656211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8465214" y="4673747"/>
              <a:ext cx="153989" cy="106639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8875853" y="4766008"/>
              <a:ext cx="153989" cy="14378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9286492" y="4557921"/>
              <a:ext cx="153989" cy="222464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9697131" y="4190874"/>
              <a:ext cx="153989" cy="589512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0107771" y="4543942"/>
              <a:ext cx="153989" cy="236443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0518410" y="4014740"/>
              <a:ext cx="153989" cy="765646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0929049" y="4780386"/>
              <a:ext cx="153989" cy="0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6986912" y="2748647"/>
              <a:ext cx="153989" cy="2031739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397551" y="4386180"/>
              <a:ext cx="153989" cy="394206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808191" y="4265162"/>
              <a:ext cx="153989" cy="515223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8218830" y="3763917"/>
              <a:ext cx="153989" cy="1016468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8629469" y="4444492"/>
              <a:ext cx="153989" cy="335894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9040109" y="4724470"/>
              <a:ext cx="153989" cy="55915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9450748" y="4598660"/>
              <a:ext cx="153989" cy="181726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9861387" y="4443693"/>
              <a:ext cx="153989" cy="336692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0272026" y="4383784"/>
              <a:ext cx="153989" cy="396602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10682666" y="3286636"/>
              <a:ext cx="153989" cy="1493750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1093305" y="1853195"/>
              <a:ext cx="153989" cy="2927190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tx57"/>
            <p:cNvSpPr/>
            <p:nvPr/>
          </p:nvSpPr>
          <p:spPr>
            <a:xfrm>
              <a:off x="2817275" y="1463490"/>
              <a:ext cx="247345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Heartlands (2012–2022)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898742" y="1463490"/>
              <a:ext cx="227246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Songbird (2015–2025)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768181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589459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410738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232017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053295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874574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749156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70434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2017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391713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2019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212991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2021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0034270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2023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10855549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2025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401652" y="4713772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169029" y="3815823"/>
              <a:ext cx="348935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994653" y="2917874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1,000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994653" y="2019925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1,500</a:t>
              </a:r>
            </a:p>
          </p:txBody>
        </p:sp>
        <p:sp>
          <p:nvSpPr>
            <p:cNvPr id="75" name="tx75"/>
            <p:cNvSpPr/>
            <p:nvPr/>
          </p:nvSpPr>
          <p:spPr>
            <a:xfrm rot="-5400000">
              <a:off x="493455" y="3233443"/>
              <a:ext cx="626729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</a:t>
              </a:r>
            </a:p>
          </p:txBody>
        </p:sp>
        <p:sp>
          <p:nvSpPr>
            <p:cNvPr id="76" name="rc76"/>
            <p:cNvSpPr/>
            <p:nvPr/>
          </p:nvSpPr>
          <p:spPr>
            <a:xfrm>
              <a:off x="3870468" y="5556845"/>
              <a:ext cx="190001" cy="190001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324687" y="5556845"/>
              <a:ext cx="190001" cy="190001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4189070" y="5585232"/>
              <a:ext cx="200701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Hansen forest cleared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643289" y="5585232"/>
              <a:ext cx="25899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USFS canopy fell 15+ points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23472" y="982552"/>
              <a:ext cx="7656088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 where canopy dropped, by year and source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61360" y="777240"/>
            <a:ext cx="56692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61360" y="777240"/>
            <a:ext cx="56692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868680"/>
            <a:ext cx="10972800" cy="5120640"/>
            <a:chOff x="609600" y="868680"/>
            <a:chExt cx="10972800" cy="5120640"/>
          </a:xfrm>
        </p:grpSpPr>
        <p:sp>
          <p:nvSpPr>
            <p:cNvPr id="3" name="rc3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620450" y="4687823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620450" y="4134430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620450" y="3581037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0450" y="3027644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714117" y="4605118"/>
              <a:ext cx="165295" cy="82704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890433" y="4127662"/>
              <a:ext cx="165295" cy="56016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154906" y="4646594"/>
              <a:ext cx="165295" cy="41229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2331222" y="4646409"/>
              <a:ext cx="165295" cy="41413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595695" y="4620072"/>
              <a:ext cx="165295" cy="6775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2772011" y="4612195"/>
              <a:ext cx="165295" cy="7562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036484" y="4602472"/>
              <a:ext cx="165295" cy="8535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212800" y="4601242"/>
              <a:ext cx="165295" cy="8658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477273" y="4579827"/>
              <a:ext cx="165295" cy="107995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653589" y="4611703"/>
              <a:ext cx="165295" cy="76119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918062" y="4488016"/>
              <a:ext cx="165295" cy="199806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094378" y="4539952"/>
              <a:ext cx="165295" cy="14787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4358851" y="4208212"/>
              <a:ext cx="165295" cy="47961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4535167" y="4289932"/>
              <a:ext cx="165295" cy="39789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799640" y="2826302"/>
              <a:ext cx="165295" cy="186152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4975956" y="3197855"/>
              <a:ext cx="165295" cy="148996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5240429" y="2847162"/>
              <a:ext cx="165295" cy="184066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5416745" y="2804087"/>
              <a:ext cx="165295" cy="1883735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681218" y="4685177"/>
              <a:ext cx="165295" cy="2646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857534" y="4677915"/>
              <a:ext cx="165295" cy="990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72479" y="4687823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972479" y="4109397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972479" y="3530972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972479" y="2952547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066146" y="4529005"/>
              <a:ext cx="165295" cy="158817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7242462" y="4572562"/>
              <a:ext cx="165295" cy="11526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506935" y="4654016"/>
              <a:ext cx="165295" cy="33806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683251" y="4677763"/>
              <a:ext cx="165295" cy="10059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947724" y="4645063"/>
              <a:ext cx="165295" cy="42759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8124040" y="4666726"/>
              <a:ext cx="165295" cy="21096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8388513" y="4620776"/>
              <a:ext cx="165295" cy="67046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8564829" y="4660320"/>
              <a:ext cx="165295" cy="27502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8829302" y="4590031"/>
              <a:ext cx="165295" cy="97791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9005618" y="4654325"/>
              <a:ext cx="165295" cy="3349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9270091" y="4514495"/>
              <a:ext cx="165295" cy="173327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9446407" y="4617946"/>
              <a:ext cx="165295" cy="69876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9710880" y="4284386"/>
              <a:ext cx="165295" cy="403437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9887196" y="4414697"/>
              <a:ext cx="165295" cy="273125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0151669" y="3301508"/>
              <a:ext cx="165295" cy="1386314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0327985" y="3386590"/>
              <a:ext cx="165295" cy="1301233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0592458" y="3291140"/>
              <a:ext cx="165295" cy="1396682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0768774" y="2804087"/>
              <a:ext cx="165295" cy="1883735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1033247" y="4679873"/>
              <a:ext cx="165295" cy="7949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1209563" y="4655277"/>
              <a:ext cx="165295" cy="32545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3"/>
            <p:cNvSpPr/>
            <p:nvPr/>
          </p:nvSpPr>
          <p:spPr>
            <a:xfrm>
              <a:off x="2885036" y="2466555"/>
              <a:ext cx="196687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American Songbird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071010" y="2466555"/>
              <a:ext cx="229898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Keweenaw Heartlands</a:t>
              </a:r>
            </a:p>
          </p:txBody>
        </p:sp>
        <p:sp>
          <p:nvSpPr>
            <p:cNvPr id="55" name="tx55"/>
            <p:cNvSpPr/>
            <p:nvPr/>
          </p:nvSpPr>
          <p:spPr>
            <a:xfrm rot="-2700000">
              <a:off x="1407928" y="5082073"/>
              <a:ext cx="61401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0–10%</a:t>
              </a:r>
            </a:p>
          </p:txBody>
        </p:sp>
        <p:sp>
          <p:nvSpPr>
            <p:cNvPr id="56" name="tx56"/>
            <p:cNvSpPr/>
            <p:nvPr/>
          </p:nvSpPr>
          <p:spPr>
            <a:xfrm rot="-2700000">
              <a:off x="1749439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10–20%</a:t>
              </a:r>
            </a:p>
          </p:txBody>
        </p:sp>
        <p:sp>
          <p:nvSpPr>
            <p:cNvPr id="57" name="tx57"/>
            <p:cNvSpPr/>
            <p:nvPr/>
          </p:nvSpPr>
          <p:spPr>
            <a:xfrm rot="-2700000">
              <a:off x="2190228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20–30%</a:t>
              </a:r>
            </a:p>
          </p:txBody>
        </p:sp>
        <p:sp>
          <p:nvSpPr>
            <p:cNvPr id="58" name="tx58"/>
            <p:cNvSpPr/>
            <p:nvPr/>
          </p:nvSpPr>
          <p:spPr>
            <a:xfrm rot="-2700000">
              <a:off x="2631017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30–40%</a:t>
              </a:r>
            </a:p>
          </p:txBody>
        </p:sp>
        <p:sp>
          <p:nvSpPr>
            <p:cNvPr id="59" name="tx59"/>
            <p:cNvSpPr/>
            <p:nvPr/>
          </p:nvSpPr>
          <p:spPr>
            <a:xfrm rot="-2700000">
              <a:off x="3071806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40–50%</a:t>
              </a:r>
            </a:p>
          </p:txBody>
        </p:sp>
        <p:sp>
          <p:nvSpPr>
            <p:cNvPr id="60" name="tx60"/>
            <p:cNvSpPr/>
            <p:nvPr/>
          </p:nvSpPr>
          <p:spPr>
            <a:xfrm rot="-2700000">
              <a:off x="3512595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50–60%</a:t>
              </a:r>
            </a:p>
          </p:txBody>
        </p:sp>
        <p:sp>
          <p:nvSpPr>
            <p:cNvPr id="61" name="tx61"/>
            <p:cNvSpPr/>
            <p:nvPr/>
          </p:nvSpPr>
          <p:spPr>
            <a:xfrm rot="-2700000">
              <a:off x="3953384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60–70%</a:t>
              </a:r>
            </a:p>
          </p:txBody>
        </p:sp>
        <p:sp>
          <p:nvSpPr>
            <p:cNvPr id="62" name="tx62"/>
            <p:cNvSpPr/>
            <p:nvPr/>
          </p:nvSpPr>
          <p:spPr>
            <a:xfrm rot="-2700000">
              <a:off x="4394173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70–80%</a:t>
              </a:r>
            </a:p>
          </p:txBody>
        </p:sp>
        <p:sp>
          <p:nvSpPr>
            <p:cNvPr id="63" name="tx63"/>
            <p:cNvSpPr/>
            <p:nvPr/>
          </p:nvSpPr>
          <p:spPr>
            <a:xfrm rot="-2700000">
              <a:off x="4834961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80–90%</a:t>
              </a:r>
            </a:p>
          </p:txBody>
        </p:sp>
        <p:sp>
          <p:nvSpPr>
            <p:cNvPr id="64" name="tx64"/>
            <p:cNvSpPr/>
            <p:nvPr/>
          </p:nvSpPr>
          <p:spPr>
            <a:xfrm rot="-2700000">
              <a:off x="5176472" y="5164318"/>
              <a:ext cx="84664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90–100%</a:t>
              </a:r>
            </a:p>
          </p:txBody>
        </p:sp>
        <p:sp>
          <p:nvSpPr>
            <p:cNvPr id="65" name="tx65"/>
            <p:cNvSpPr/>
            <p:nvPr/>
          </p:nvSpPr>
          <p:spPr>
            <a:xfrm rot="-2700000">
              <a:off x="6759957" y="5082073"/>
              <a:ext cx="61401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0–10%</a:t>
              </a:r>
            </a:p>
          </p:txBody>
        </p:sp>
        <p:sp>
          <p:nvSpPr>
            <p:cNvPr id="66" name="tx66"/>
            <p:cNvSpPr/>
            <p:nvPr/>
          </p:nvSpPr>
          <p:spPr>
            <a:xfrm rot="-2700000">
              <a:off x="7101468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10–20%</a:t>
              </a:r>
            </a:p>
          </p:txBody>
        </p:sp>
        <p:sp>
          <p:nvSpPr>
            <p:cNvPr id="67" name="tx67"/>
            <p:cNvSpPr/>
            <p:nvPr/>
          </p:nvSpPr>
          <p:spPr>
            <a:xfrm rot="-2700000">
              <a:off x="7542257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20–30%</a:t>
              </a:r>
            </a:p>
          </p:txBody>
        </p:sp>
        <p:sp>
          <p:nvSpPr>
            <p:cNvPr id="68" name="tx68"/>
            <p:cNvSpPr/>
            <p:nvPr/>
          </p:nvSpPr>
          <p:spPr>
            <a:xfrm rot="-2700000">
              <a:off x="7983046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30–40%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8423835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40–50%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8864624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50–60%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9305413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60–70%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9746202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70–80%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10186991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80–90%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10528501" y="5164318"/>
              <a:ext cx="84664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90–100%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753681" y="4621209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6346682" y="4042783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5,000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230370" y="3464358"/>
              <a:ext cx="63962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10,000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230370" y="2885933"/>
              <a:ext cx="63962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15,000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401652" y="4621209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94653" y="4067816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2,000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94653" y="3514423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4,000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994653" y="2961030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6,000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757876" y="5661203"/>
              <a:ext cx="1573225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Canopy cover</a:t>
              </a:r>
            </a:p>
          </p:txBody>
        </p:sp>
        <p:sp>
          <p:nvSpPr>
            <p:cNvPr id="84" name="tx84"/>
            <p:cNvSpPr/>
            <p:nvPr/>
          </p:nvSpPr>
          <p:spPr>
            <a:xfrm rot="-5400000">
              <a:off x="493455" y="3662607"/>
              <a:ext cx="626729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</a:t>
              </a:r>
            </a:p>
          </p:txBody>
        </p:sp>
        <p:sp>
          <p:nvSpPr>
            <p:cNvPr id="85" name="rc85"/>
            <p:cNvSpPr/>
            <p:nvPr/>
          </p:nvSpPr>
          <p:spPr>
            <a:xfrm>
              <a:off x="5703703" y="1810089"/>
              <a:ext cx="190001" cy="190001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616152" y="1810089"/>
              <a:ext cx="190001" cy="190001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tx87"/>
            <p:cNvSpPr/>
            <p:nvPr/>
          </p:nvSpPr>
          <p:spPr>
            <a:xfrm>
              <a:off x="6022305" y="1838476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6934754" y="1838476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2025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23472" y="1353372"/>
              <a:ext cx="7099950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USFS Tree Canopy Cover, 30 m cells inside each sale footprint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3472" y="982552"/>
              <a:ext cx="7160849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 in each canopy cover bin, 2020 vs. 2025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411480"/>
            <a:ext cx="10972800" cy="6035040"/>
            <a:chOff x="609600" y="411480"/>
            <a:chExt cx="10972800" cy="6035040"/>
          </a:xfrm>
        </p:grpSpPr>
        <p:sp>
          <p:nvSpPr>
            <p:cNvPr id="3" name="rc3"/>
            <p:cNvSpPr/>
            <p:nvPr/>
          </p:nvSpPr>
          <p:spPr>
            <a:xfrm>
              <a:off x="609600" y="411480"/>
              <a:ext cx="10972800" cy="60350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411480"/>
              <a:ext cx="10972800" cy="60350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4357887" y="1088897"/>
              <a:ext cx="0" cy="4209524"/>
            </a:xfrm>
            <a:custGeom>
              <a:avLst/>
              <a:pathLst>
                <a:path w="0" h="4209524">
                  <a:moveTo>
                    <a:pt x="0" y="42095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677059" y="1088897"/>
              <a:ext cx="0" cy="4209524"/>
            </a:xfrm>
            <a:custGeom>
              <a:avLst/>
              <a:pathLst>
                <a:path w="0" h="4209524">
                  <a:moveTo>
                    <a:pt x="0" y="42095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6996230" y="1088897"/>
              <a:ext cx="0" cy="4209524"/>
            </a:xfrm>
            <a:custGeom>
              <a:avLst/>
              <a:pathLst>
                <a:path w="0" h="4209524">
                  <a:moveTo>
                    <a:pt x="0" y="42095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315402" y="1088897"/>
              <a:ext cx="0" cy="4209524"/>
            </a:xfrm>
            <a:custGeom>
              <a:avLst/>
              <a:pathLst>
                <a:path w="0" h="4209524">
                  <a:moveTo>
                    <a:pt x="0" y="42095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634573" y="1088897"/>
              <a:ext cx="0" cy="4209524"/>
            </a:xfrm>
            <a:custGeom>
              <a:avLst/>
              <a:pathLst>
                <a:path w="0" h="4209524">
                  <a:moveTo>
                    <a:pt x="0" y="42095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953745" y="1088897"/>
              <a:ext cx="0" cy="4209524"/>
            </a:xfrm>
            <a:custGeom>
              <a:avLst/>
              <a:pathLst>
                <a:path w="0" h="4209524">
                  <a:moveTo>
                    <a:pt x="0" y="42095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357887" y="1192071"/>
              <a:ext cx="6199667" cy="288888"/>
            </a:xfrm>
            <a:prstGeom prst="rect">
              <a:avLst/>
            </a:prstGeom>
            <a:solidFill>
              <a:srgbClr val="66A6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357887" y="1604770"/>
              <a:ext cx="1510794" cy="288888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357887" y="2017468"/>
              <a:ext cx="1027825" cy="288888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357887" y="2430167"/>
              <a:ext cx="685313" cy="288888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357887" y="2842865"/>
              <a:ext cx="633779" cy="288888"/>
            </a:xfrm>
            <a:prstGeom prst="rect">
              <a:avLst/>
            </a:prstGeom>
            <a:solidFill>
              <a:srgbClr val="A6D9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357887" y="3255564"/>
              <a:ext cx="494208" cy="288888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357887" y="3668262"/>
              <a:ext cx="367413" cy="288888"/>
            </a:xfrm>
            <a:prstGeom prst="rect">
              <a:avLst/>
            </a:prstGeom>
            <a:solidFill>
              <a:srgbClr val="66A6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357887" y="4080960"/>
              <a:ext cx="145705" cy="288888"/>
            </a:xfrm>
            <a:prstGeom prst="rect">
              <a:avLst/>
            </a:prstGeom>
            <a:solidFill>
              <a:srgbClr val="A6D9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357887" y="4493659"/>
              <a:ext cx="106668" cy="288888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357887" y="4906357"/>
              <a:ext cx="95447" cy="288888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10614943" y="1270679"/>
              <a:ext cx="57387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54.6%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926069" y="1683377"/>
              <a:ext cx="57387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13.3%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431607" y="2096076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9.1%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5071858" y="2508774"/>
              <a:ext cx="286572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6%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37560" y="2921473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5.6%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897989" y="3334171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4.4%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771194" y="3746870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3.2%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549487" y="4159568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1.3%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510450" y="4572267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0.9%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499228" y="4984965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0.8%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65935" y="4995252"/>
              <a:ext cx="300654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Floodplain Systems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123197" y="4500258"/>
              <a:ext cx="314928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Boreal Jack Pine-Black Spruce Forest-Pine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685255" y="4664850"/>
              <a:ext cx="58722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Barrens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494" y="4169855"/>
              <a:ext cx="356798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Northern Pine(-Oak) Forest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69740" y="3674861"/>
              <a:ext cx="3102742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Northern Hardwoods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7157" y="3839453"/>
              <a:ext cx="301532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Forest-Northern Sugar Maple-Basswood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878858" y="3344458"/>
              <a:ext cx="2393624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Boreal Acidic Peatland Systems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78413" y="2849464"/>
              <a:ext cx="339406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Pine-Hemlock-Hardwood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04584" y="3014056"/>
              <a:ext cx="46789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660407" y="2436765"/>
              <a:ext cx="261207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Boreal White Spruce-Fir-Hardwood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181329" y="2601357"/>
              <a:ext cx="1091153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Forest-Coastal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660407" y="2024067"/>
              <a:ext cx="261207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Boreal White Spruce-Fir-Hardwood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78713" y="2188659"/>
              <a:ext cx="99376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Forest-Inland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31194" y="1611368"/>
              <a:ext cx="354128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Alkaline Conifer-Hardwood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712412" y="1775960"/>
              <a:ext cx="5600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Swamp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169740" y="1198670"/>
              <a:ext cx="3102742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Northern Hardwoods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084860" y="1363262"/>
              <a:ext cx="1187622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Forest-Hemlock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309378" y="5383826"/>
              <a:ext cx="9701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361774" y="5383826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100,000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680945" y="5383826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200,000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000117" y="5383826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300,000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319288" y="5383826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400,000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0638460" y="5383826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500,000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661635" y="5574102"/>
              <a:ext cx="522122" cy="1388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</a:t>
              </a:r>
            </a:p>
          </p:txBody>
        </p:sp>
        <p:sp>
          <p:nvSpPr>
            <p:cNvPr id="55" name="rc55"/>
            <p:cNvSpPr/>
            <p:nvPr/>
          </p:nvSpPr>
          <p:spPr>
            <a:xfrm>
              <a:off x="5498074" y="6049548"/>
              <a:ext cx="194910" cy="194910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456141" y="6049548"/>
              <a:ext cx="194910" cy="194910"/>
            </a:xfrm>
            <a:prstGeom prst="rect">
              <a:avLst/>
            </a:prstGeom>
            <a:solidFill>
              <a:srgbClr val="66A6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638144" y="6049548"/>
              <a:ext cx="194910" cy="194910"/>
            </a:xfrm>
            <a:prstGeom prst="rect">
              <a:avLst/>
            </a:prstGeom>
            <a:solidFill>
              <a:srgbClr val="A6D9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9424018" y="6049548"/>
              <a:ext cx="194910" cy="194910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5800151" y="6091453"/>
              <a:ext cx="548822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Conifer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758218" y="6091453"/>
              <a:ext cx="77275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Hardwood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940222" y="6091453"/>
              <a:ext cx="137662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Hardwood-Conifer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9726095" y="6091453"/>
              <a:ext cx="63349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Riparian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04494" y="815512"/>
              <a:ext cx="6361663" cy="1388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Top 10 LANDFIRE Biophysical Settings (2020), percent of land area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04494" y="506374"/>
              <a:ext cx="5002682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What the land would naturally support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411480"/>
            <a:ext cx="10972800" cy="6035040"/>
            <a:chOff x="609600" y="411480"/>
            <a:chExt cx="10972800" cy="6035040"/>
          </a:xfrm>
        </p:grpSpPr>
        <p:sp>
          <p:nvSpPr>
            <p:cNvPr id="3" name="rc3"/>
            <p:cNvSpPr/>
            <p:nvPr/>
          </p:nvSpPr>
          <p:spPr>
            <a:xfrm>
              <a:off x="609600" y="411480"/>
              <a:ext cx="10972800" cy="60350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411480"/>
              <a:ext cx="10972800" cy="60350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4409002" y="1088897"/>
              <a:ext cx="0" cy="3895173"/>
            </a:xfrm>
            <a:custGeom>
              <a:avLst/>
              <a:pathLst>
                <a:path w="0" h="3895173">
                  <a:moveTo>
                    <a:pt x="0" y="389517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776718" y="1088897"/>
              <a:ext cx="0" cy="3895173"/>
            </a:xfrm>
            <a:custGeom>
              <a:avLst/>
              <a:pathLst>
                <a:path w="0" h="3895173">
                  <a:moveTo>
                    <a:pt x="0" y="389517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7144434" y="1088897"/>
              <a:ext cx="0" cy="3895173"/>
            </a:xfrm>
            <a:custGeom>
              <a:avLst/>
              <a:pathLst>
                <a:path w="0" h="3895173">
                  <a:moveTo>
                    <a:pt x="0" y="389517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12150" y="1088897"/>
              <a:ext cx="0" cy="3895173"/>
            </a:xfrm>
            <a:custGeom>
              <a:avLst/>
              <a:pathLst>
                <a:path w="0" h="3895173">
                  <a:moveTo>
                    <a:pt x="0" y="389517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879866" y="1088897"/>
              <a:ext cx="0" cy="3895173"/>
            </a:xfrm>
            <a:custGeom>
              <a:avLst/>
              <a:pathLst>
                <a:path w="0" h="3895173">
                  <a:moveTo>
                    <a:pt x="0" y="389517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1247582" y="1088897"/>
              <a:ext cx="0" cy="3895173"/>
            </a:xfrm>
            <a:custGeom>
              <a:avLst/>
              <a:pathLst>
                <a:path w="0" h="3895173">
                  <a:moveTo>
                    <a:pt x="0" y="389517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409002" y="1184367"/>
              <a:ext cx="6155220" cy="267315"/>
            </a:xfrm>
            <a:prstGeom prst="rect">
              <a:avLst/>
            </a:prstGeom>
            <a:solidFill>
              <a:srgbClr val="66A6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409002" y="1566246"/>
              <a:ext cx="1140958" cy="267315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409002" y="1948126"/>
              <a:ext cx="634206" cy="267315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409002" y="2330006"/>
              <a:ext cx="633644" cy="267315"/>
            </a:xfrm>
            <a:prstGeom prst="rect">
              <a:avLst/>
            </a:prstGeom>
            <a:solidFill>
              <a:srgbClr val="A6D9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409002" y="2711886"/>
              <a:ext cx="537543" cy="267315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409002" y="3093766"/>
              <a:ext cx="405258" cy="267315"/>
            </a:xfrm>
            <a:prstGeom prst="rect">
              <a:avLst/>
            </a:prstGeom>
            <a:solidFill>
              <a:srgbClr val="66A6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409002" y="3475645"/>
              <a:ext cx="336059" cy="267315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409002" y="3857525"/>
              <a:ext cx="318913" cy="267315"/>
            </a:xfrm>
            <a:prstGeom prst="rect">
              <a:avLst/>
            </a:prstGeom>
            <a:solidFill>
              <a:srgbClr val="8C8C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409002" y="4239405"/>
              <a:ext cx="305079" cy="267315"/>
            </a:xfrm>
            <a:prstGeom prst="rect">
              <a:avLst/>
            </a:prstGeom>
            <a:solidFill>
              <a:srgbClr val="E6AB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409002" y="4621285"/>
              <a:ext cx="303768" cy="267315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10621610" y="1252188"/>
              <a:ext cx="57387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52.3%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595855" y="1634068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9.7%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89103" y="2015947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5.4%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5088540" y="2397827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5.4%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2439" y="2779707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4.6%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860155" y="3161587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3.4%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790955" y="3543467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2.9%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773809" y="3925346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2.7%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59975" y="4307226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2.6%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758664" y="4689106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2.6%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47022" y="4699393"/>
              <a:ext cx="277657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 Jack Pine-Red Pine Forest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74846" y="4317513"/>
              <a:ext cx="3448751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Eastern Cool Temperate Pasture and Hayland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988391" y="3935633"/>
              <a:ext cx="133520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Developed-Roads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24498" y="3471458"/>
              <a:ext cx="339909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Boreal-Laurentian Conifer Acidic Swamp and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06841" y="3636050"/>
              <a:ext cx="111675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Treed Poor Fen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8590" y="3089578"/>
              <a:ext cx="330500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Sub-boreal Aspen-Birch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55699" y="3254170"/>
              <a:ext cx="46789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4630" y="2707698"/>
              <a:ext cx="343896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Sub-boreal Mesic Balsam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049930" y="2872290"/>
              <a:ext cx="127366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Fir-Spruce Forest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29527" y="2325818"/>
              <a:ext cx="339406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Pine-Hemlock-Hardwood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55699" y="2490410"/>
              <a:ext cx="46789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40972" y="2026234"/>
              <a:ext cx="308262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Pine-Hemlock Forest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2309" y="1562059"/>
              <a:ext cx="354128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Alkaline Conifer-Hardwood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763527" y="1726651"/>
              <a:ext cx="5600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Swamp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04494" y="1262475"/>
              <a:ext cx="3619103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Northern Hardwoods Forest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360493" y="5069475"/>
              <a:ext cx="9701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461433" y="5069475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100,000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829149" y="5069475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200,000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8196865" y="5069475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300,000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564581" y="5069475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400,000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0932297" y="5069475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500,000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687193" y="5259752"/>
              <a:ext cx="522122" cy="1388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5882467" y="5735198"/>
              <a:ext cx="194910" cy="194910"/>
            </a:xfrm>
            <a:prstGeom prst="rect">
              <a:avLst/>
            </a:prstGeom>
            <a:solidFill>
              <a:srgbClr val="E6AB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882467" y="6049548"/>
              <a:ext cx="194910" cy="194910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175387" y="5735198"/>
              <a:ext cx="194910" cy="194910"/>
            </a:xfrm>
            <a:prstGeom prst="rect">
              <a:avLst/>
            </a:prstGeom>
            <a:solidFill>
              <a:srgbClr val="A6D9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175387" y="6049548"/>
              <a:ext cx="194910" cy="194910"/>
            </a:xfrm>
            <a:prstGeom prst="rect">
              <a:avLst/>
            </a:prstGeom>
            <a:solidFill>
              <a:srgbClr val="8C8C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8951477" y="5735198"/>
              <a:ext cx="194910" cy="194910"/>
            </a:xfrm>
            <a:prstGeom prst="rect">
              <a:avLst/>
            </a:prstGeom>
            <a:solidFill>
              <a:srgbClr val="66A6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8951477" y="6049548"/>
              <a:ext cx="194910" cy="194910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6184544" y="5777103"/>
              <a:ext cx="88367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Agricultural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184544" y="6091453"/>
              <a:ext cx="548822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Conifer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477465" y="5777103"/>
              <a:ext cx="136684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Conifer-Hardwood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477465" y="6091453"/>
              <a:ext cx="133520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Developed-Roads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9253554" y="5777103"/>
              <a:ext cx="77275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Hardwood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253554" y="6091453"/>
              <a:ext cx="63349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Riparian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04494" y="815512"/>
              <a:ext cx="6878299" cy="1388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Top 10 LANDFIRE Existing Vegetation Types (2024), percent of land area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4494" y="506374"/>
              <a:ext cx="2269632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What's there now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502920"/>
            <a:ext cx="10972800" cy="5852160"/>
            <a:chOff x="609600" y="502920"/>
            <a:chExt cx="10972800" cy="5852160"/>
          </a:xfrm>
        </p:grpSpPr>
        <p:sp>
          <p:nvSpPr>
            <p:cNvPr id="3" name="rc3"/>
            <p:cNvSpPr/>
            <p:nvPr/>
          </p:nvSpPr>
          <p:spPr>
            <a:xfrm>
              <a:off x="609600" y="502919"/>
              <a:ext cx="10972800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502919"/>
              <a:ext cx="10972800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736761" y="5572433"/>
              <a:ext cx="6774261" cy="0"/>
            </a:xfrm>
            <a:custGeom>
              <a:avLst/>
              <a:pathLst>
                <a:path w="6774261" h="0">
                  <a:moveTo>
                    <a:pt x="0" y="0"/>
                  </a:moveTo>
                  <a:lnTo>
                    <a:pt x="6774261" y="0"/>
                  </a:lnTo>
                  <a:lnTo>
                    <a:pt x="677426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736761" y="4543445"/>
              <a:ext cx="6774261" cy="0"/>
            </a:xfrm>
            <a:custGeom>
              <a:avLst/>
              <a:pathLst>
                <a:path w="6774261" h="0">
                  <a:moveTo>
                    <a:pt x="0" y="0"/>
                  </a:moveTo>
                  <a:lnTo>
                    <a:pt x="6774261" y="0"/>
                  </a:lnTo>
                  <a:lnTo>
                    <a:pt x="677426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61" y="3514457"/>
              <a:ext cx="6774261" cy="0"/>
            </a:xfrm>
            <a:custGeom>
              <a:avLst/>
              <a:pathLst>
                <a:path w="6774261" h="0">
                  <a:moveTo>
                    <a:pt x="0" y="0"/>
                  </a:moveTo>
                  <a:lnTo>
                    <a:pt x="6774261" y="0"/>
                  </a:lnTo>
                  <a:lnTo>
                    <a:pt x="677426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36761" y="2485469"/>
              <a:ext cx="6774261" cy="0"/>
            </a:xfrm>
            <a:custGeom>
              <a:avLst/>
              <a:pathLst>
                <a:path w="6774261" h="0">
                  <a:moveTo>
                    <a:pt x="0" y="0"/>
                  </a:moveTo>
                  <a:lnTo>
                    <a:pt x="6774261" y="0"/>
                  </a:lnTo>
                  <a:lnTo>
                    <a:pt x="677426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36761" y="1456481"/>
              <a:ext cx="6774261" cy="0"/>
            </a:xfrm>
            <a:custGeom>
              <a:avLst/>
              <a:pathLst>
                <a:path w="6774261" h="0">
                  <a:moveTo>
                    <a:pt x="0" y="0"/>
                  </a:moveTo>
                  <a:lnTo>
                    <a:pt x="6774261" y="0"/>
                  </a:lnTo>
                  <a:lnTo>
                    <a:pt x="677426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371848" y="4689068"/>
              <a:ext cx="1270174" cy="883365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371848" y="2667050"/>
              <a:ext cx="1270174" cy="413068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2371848" y="2167070"/>
              <a:ext cx="1270174" cy="499979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371848" y="3080119"/>
              <a:ext cx="1270174" cy="1608949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488805" y="5288190"/>
              <a:ext cx="1270174" cy="284243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488805" y="5003201"/>
              <a:ext cx="1270174" cy="2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488805" y="4930666"/>
              <a:ext cx="1270174" cy="72535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488805" y="5003203"/>
              <a:ext cx="1270174" cy="284986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6605762" y="5571754"/>
              <a:ext cx="1270174" cy="679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6605762" y="4886573"/>
              <a:ext cx="1270174" cy="446866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6605762" y="5333440"/>
              <a:ext cx="1270174" cy="238313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6605762" y="2810897"/>
              <a:ext cx="1270174" cy="9386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6605762" y="2820284"/>
              <a:ext cx="1270174" cy="2066289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603329" y="2387814"/>
              <a:ext cx="1275039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10,735 acres/yr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613891" y="2621969"/>
              <a:ext cx="1253916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(1.25% of land)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369416" y="1743986"/>
              <a:ext cx="1275039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13,238 acres/yr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379977" y="1978141"/>
              <a:ext cx="1253916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(1.54% of land)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538082" y="4507582"/>
              <a:ext cx="117162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2,495 acres/yr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496934" y="4741737"/>
              <a:ext cx="1253916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(0.29% of land)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17964" y="5505819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110965" y="4476831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4,000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110965" y="3447843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8,000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94653" y="2418855"/>
              <a:ext cx="63962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12,000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94653" y="1389867"/>
              <a:ext cx="63962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16,000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412347" y="5674919"/>
              <a:ext cx="118917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Historical: all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418565" y="5872429"/>
              <a:ext cx="117674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disturbances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665092" y="5674919"/>
              <a:ext cx="917600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Historical: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54709" y="5872429"/>
              <a:ext cx="1738365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structure-changing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30588" y="6069939"/>
              <a:ext cx="386608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only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377793" y="5674919"/>
              <a:ext cx="172611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Current (LANDFIRE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61984" y="5872429"/>
              <a:ext cx="1957730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average, 2010–2025)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-604007" y="3360733"/>
              <a:ext cx="2821655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 disturbed per year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8867369" y="2800440"/>
              <a:ext cx="190001" cy="190001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867369" y="3019896"/>
              <a:ext cx="190001" cy="190001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8867369" y="3239352"/>
              <a:ext cx="190001" cy="190001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8867369" y="3458808"/>
              <a:ext cx="190001" cy="190001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8867369" y="3678264"/>
              <a:ext cx="190001" cy="190001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8867369" y="3897720"/>
              <a:ext cx="190001" cy="190001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9185971" y="2828827"/>
              <a:ext cx="32625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Fire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9185971" y="3048283"/>
              <a:ext cx="216868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Wind, weather or stress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185971" y="3267739"/>
              <a:ext cx="164207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Insects or disease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85971" y="3487195"/>
              <a:ext cx="206398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Harvest or mechanical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85971" y="3706651"/>
              <a:ext cx="1442648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Unknown cause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9185971" y="3926107"/>
              <a:ext cx="51901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Other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23472" y="987612"/>
              <a:ext cx="10003170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All land, Houghton and Keweenaw counties. Historical: BpS models; current: LANDFIRE.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23472" y="616792"/>
              <a:ext cx="6690756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Disturbance per year: historical vs. current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594360"/>
            <a:ext cx="10972800" cy="5669280"/>
            <a:chOff x="609600" y="594360"/>
            <a:chExt cx="10972800" cy="5669280"/>
          </a:xfrm>
        </p:grpSpPr>
        <p:sp>
          <p:nvSpPr>
            <p:cNvPr id="3" name="rc3"/>
            <p:cNvSpPr/>
            <p:nvPr/>
          </p:nvSpPr>
          <p:spPr>
            <a:xfrm>
              <a:off x="609600" y="594360"/>
              <a:ext cx="10972800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594360"/>
              <a:ext cx="1097279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736761" y="5406742"/>
              <a:ext cx="6878960" cy="0"/>
            </a:xfrm>
            <a:custGeom>
              <a:avLst/>
              <a:pathLst>
                <a:path w="6878960" h="0">
                  <a:moveTo>
                    <a:pt x="0" y="0"/>
                  </a:moveTo>
                  <a:lnTo>
                    <a:pt x="6878960" y="0"/>
                  </a:lnTo>
                  <a:lnTo>
                    <a:pt x="687896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736761" y="4330799"/>
              <a:ext cx="6878960" cy="0"/>
            </a:xfrm>
            <a:custGeom>
              <a:avLst/>
              <a:pathLst>
                <a:path w="6878960" h="0">
                  <a:moveTo>
                    <a:pt x="0" y="0"/>
                  </a:moveTo>
                  <a:lnTo>
                    <a:pt x="6878960" y="0"/>
                  </a:lnTo>
                  <a:lnTo>
                    <a:pt x="687896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61" y="3254856"/>
              <a:ext cx="6878960" cy="0"/>
            </a:xfrm>
            <a:custGeom>
              <a:avLst/>
              <a:pathLst>
                <a:path w="6878960" h="0">
                  <a:moveTo>
                    <a:pt x="0" y="0"/>
                  </a:moveTo>
                  <a:lnTo>
                    <a:pt x="6878960" y="0"/>
                  </a:lnTo>
                  <a:lnTo>
                    <a:pt x="687896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36761" y="2178913"/>
              <a:ext cx="6878960" cy="0"/>
            </a:xfrm>
            <a:custGeom>
              <a:avLst/>
              <a:pathLst>
                <a:path w="6878960" h="0">
                  <a:moveTo>
                    <a:pt x="0" y="0"/>
                  </a:moveTo>
                  <a:lnTo>
                    <a:pt x="6878960" y="0"/>
                  </a:lnTo>
                  <a:lnTo>
                    <a:pt x="687896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049441" y="5277815"/>
              <a:ext cx="316638" cy="128926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049441" y="3570666"/>
              <a:ext cx="316638" cy="2105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049441" y="3572772"/>
              <a:ext cx="316638" cy="1705043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2445239" y="5262549"/>
              <a:ext cx="316638" cy="144192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445239" y="2930868"/>
              <a:ext cx="316638" cy="24024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2445239" y="2954892"/>
              <a:ext cx="316638" cy="2307656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2841036" y="5213974"/>
              <a:ext cx="316638" cy="192767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2841036" y="3205184"/>
              <a:ext cx="316638" cy="6843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2841036" y="3212027"/>
              <a:ext cx="316638" cy="200194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236834" y="5194927"/>
              <a:ext cx="316638" cy="205114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236834" y="5400042"/>
              <a:ext cx="316638" cy="6699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236834" y="4465111"/>
              <a:ext cx="316638" cy="65228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236834" y="4530339"/>
              <a:ext cx="316638" cy="66458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632631" y="5264559"/>
              <a:ext cx="316638" cy="142182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32631" y="4755984"/>
              <a:ext cx="316638" cy="10528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632631" y="4766513"/>
              <a:ext cx="316638" cy="498046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028429" y="5295618"/>
              <a:ext cx="316638" cy="111123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028429" y="4070148"/>
              <a:ext cx="316638" cy="122547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424226" y="5246756"/>
              <a:ext cx="316638" cy="159985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424226" y="3284865"/>
              <a:ext cx="316638" cy="1961891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820024" y="4425198"/>
              <a:ext cx="316638" cy="511254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820024" y="4936453"/>
              <a:ext cx="316638" cy="470289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820024" y="2720250"/>
              <a:ext cx="316638" cy="170494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215821" y="4902953"/>
              <a:ext cx="316638" cy="445020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215821" y="5347974"/>
              <a:ext cx="316638" cy="58768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215821" y="3208725"/>
              <a:ext cx="316638" cy="169422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611619" y="4752395"/>
              <a:ext cx="316638" cy="326622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611619" y="5079018"/>
              <a:ext cx="316638" cy="327723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611619" y="3136557"/>
              <a:ext cx="316638" cy="1615838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007416" y="5155685"/>
              <a:ext cx="316638" cy="251056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007416" y="3487730"/>
              <a:ext cx="316638" cy="1667954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403214" y="5405354"/>
              <a:ext cx="316638" cy="1387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6403214" y="4128486"/>
              <a:ext cx="316638" cy="683634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6403214" y="4812121"/>
              <a:ext cx="316638" cy="593233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6403214" y="1597625"/>
              <a:ext cx="316638" cy="15553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6403214" y="1613178"/>
              <a:ext cx="316638" cy="251530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6799011" y="5406359"/>
              <a:ext cx="316638" cy="382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6799011" y="4371933"/>
              <a:ext cx="316638" cy="976710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799011" y="5348644"/>
              <a:ext cx="316638" cy="57715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6799011" y="1971243"/>
              <a:ext cx="316638" cy="240069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194809" y="4023536"/>
              <a:ext cx="316638" cy="656691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194809" y="4680227"/>
              <a:ext cx="316638" cy="726514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194809" y="1750575"/>
              <a:ext cx="316638" cy="574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194809" y="1751149"/>
              <a:ext cx="316638" cy="2272386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590606" y="5406646"/>
              <a:ext cx="316638" cy="95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590606" y="4747466"/>
              <a:ext cx="316638" cy="486991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590606" y="5234457"/>
              <a:ext cx="316638" cy="172188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590606" y="3534008"/>
              <a:ext cx="316638" cy="121345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986404" y="5399515"/>
              <a:ext cx="316638" cy="7226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986404" y="4064405"/>
              <a:ext cx="316638" cy="558632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986404" y="4623038"/>
              <a:ext cx="316638" cy="776477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986404" y="1857679"/>
              <a:ext cx="316638" cy="765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986404" y="1858444"/>
              <a:ext cx="316638" cy="220596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736761" y="2558135"/>
              <a:ext cx="6878960" cy="0"/>
            </a:xfrm>
            <a:custGeom>
              <a:avLst/>
              <a:pathLst>
                <a:path w="6878960" h="0">
                  <a:moveTo>
                    <a:pt x="0" y="0"/>
                  </a:moveTo>
                  <a:lnTo>
                    <a:pt x="6878960" y="0"/>
                  </a:lnTo>
                  <a:lnTo>
                    <a:pt x="6878960" y="0"/>
                  </a:lnTo>
                </a:path>
              </a:pathLst>
            </a:custGeom>
            <a:ln w="24391" cap="flat">
              <a:solidFill>
                <a:srgbClr val="000000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1736761" y="4869900"/>
              <a:ext cx="6878960" cy="0"/>
            </a:xfrm>
            <a:custGeom>
              <a:avLst/>
              <a:pathLst>
                <a:path w="6878960" h="0">
                  <a:moveTo>
                    <a:pt x="0" y="0"/>
                  </a:moveTo>
                  <a:lnTo>
                    <a:pt x="6878960" y="0"/>
                  </a:lnTo>
                  <a:lnTo>
                    <a:pt x="6878960" y="0"/>
                  </a:lnTo>
                </a:path>
              </a:pathLst>
            </a:custGeom>
            <a:ln w="2439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2049441" y="2462104"/>
              <a:ext cx="3227962" cy="192062"/>
            </a:xfrm>
            <a:custGeom>
              <a:avLst/>
              <a:pathLst>
                <a:path w="3227962" h="192062">
                  <a:moveTo>
                    <a:pt x="26017" y="192062"/>
                  </a:moveTo>
                  <a:lnTo>
                    <a:pt x="3201945" y="192062"/>
                  </a:lnTo>
                  <a:lnTo>
                    <a:pt x="3200897" y="192041"/>
                  </a:lnTo>
                  <a:lnTo>
                    <a:pt x="3205081" y="191873"/>
                  </a:lnTo>
                  <a:lnTo>
                    <a:pt x="3209183" y="191035"/>
                  </a:lnTo>
                  <a:lnTo>
                    <a:pt x="3213098" y="189550"/>
                  </a:lnTo>
                  <a:lnTo>
                    <a:pt x="3216724" y="187457"/>
                  </a:lnTo>
                  <a:lnTo>
                    <a:pt x="3219967" y="184809"/>
                  </a:lnTo>
                  <a:lnTo>
                    <a:pt x="3222744" y="181675"/>
                  </a:lnTo>
                  <a:lnTo>
                    <a:pt x="3224982" y="178136"/>
                  </a:lnTo>
                  <a:lnTo>
                    <a:pt x="3226623" y="174284"/>
                  </a:lnTo>
                  <a:lnTo>
                    <a:pt x="3227625" y="170219"/>
                  </a:lnTo>
                  <a:lnTo>
                    <a:pt x="3227962" y="166045"/>
                  </a:lnTo>
                  <a:lnTo>
                    <a:pt x="3227962" y="26017"/>
                  </a:lnTo>
                  <a:lnTo>
                    <a:pt x="3227625" y="21843"/>
                  </a:lnTo>
                  <a:lnTo>
                    <a:pt x="3226623" y="17778"/>
                  </a:lnTo>
                  <a:lnTo>
                    <a:pt x="3224982" y="13926"/>
                  </a:lnTo>
                  <a:lnTo>
                    <a:pt x="3222744" y="10387"/>
                  </a:lnTo>
                  <a:lnTo>
                    <a:pt x="3219967" y="7253"/>
                  </a:lnTo>
                  <a:lnTo>
                    <a:pt x="3216724" y="4605"/>
                  </a:lnTo>
                  <a:lnTo>
                    <a:pt x="3213098" y="2511"/>
                  </a:lnTo>
                  <a:lnTo>
                    <a:pt x="3209183" y="1027"/>
                  </a:lnTo>
                  <a:lnTo>
                    <a:pt x="3205081" y="189"/>
                  </a:lnTo>
                  <a:lnTo>
                    <a:pt x="3201945" y="0"/>
                  </a:lnTo>
                  <a:lnTo>
                    <a:pt x="26017" y="0"/>
                  </a:lnTo>
                  <a:lnTo>
                    <a:pt x="29153" y="189"/>
                  </a:lnTo>
                  <a:lnTo>
                    <a:pt x="24969" y="21"/>
                  </a:lnTo>
                  <a:lnTo>
                    <a:pt x="20813" y="525"/>
                  </a:lnTo>
                  <a:lnTo>
                    <a:pt x="16791" y="1690"/>
                  </a:lnTo>
                  <a:lnTo>
                    <a:pt x="13008" y="3485"/>
                  </a:lnTo>
                  <a:lnTo>
                    <a:pt x="9562" y="5864"/>
                  </a:lnTo>
                  <a:lnTo>
                    <a:pt x="6543" y="8764"/>
                  </a:lnTo>
                  <a:lnTo>
                    <a:pt x="4027" y="12111"/>
                  </a:lnTo>
                  <a:lnTo>
                    <a:pt x="2081" y="15819"/>
                  </a:lnTo>
                  <a:lnTo>
                    <a:pt x="756" y="19790"/>
                  </a:lnTo>
                  <a:lnTo>
                    <a:pt x="84" y="23923"/>
                  </a:lnTo>
                  <a:lnTo>
                    <a:pt x="0" y="26017"/>
                  </a:lnTo>
                  <a:lnTo>
                    <a:pt x="0" y="166045"/>
                  </a:lnTo>
                  <a:lnTo>
                    <a:pt x="84" y="163952"/>
                  </a:lnTo>
                  <a:lnTo>
                    <a:pt x="84" y="168139"/>
                  </a:lnTo>
                  <a:lnTo>
                    <a:pt x="756" y="172272"/>
                  </a:lnTo>
                  <a:lnTo>
                    <a:pt x="2081" y="176243"/>
                  </a:lnTo>
                  <a:lnTo>
                    <a:pt x="4027" y="179950"/>
                  </a:lnTo>
                  <a:lnTo>
                    <a:pt x="6543" y="183298"/>
                  </a:lnTo>
                  <a:lnTo>
                    <a:pt x="9562" y="186198"/>
                  </a:lnTo>
                  <a:lnTo>
                    <a:pt x="13008" y="188577"/>
                  </a:lnTo>
                  <a:lnTo>
                    <a:pt x="16791" y="190372"/>
                  </a:lnTo>
                  <a:lnTo>
                    <a:pt x="20813" y="191537"/>
                  </a:lnTo>
                  <a:lnTo>
                    <a:pt x="24969" y="19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tx65"/>
            <p:cNvSpPr/>
            <p:nvPr/>
          </p:nvSpPr>
          <p:spPr>
            <a:xfrm>
              <a:off x="2092803" y="2505466"/>
              <a:ext cx="3141238" cy="1053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8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Historical, all disturbances: 13,238 acres/yr</a:t>
              </a:r>
            </a:p>
          </p:txBody>
        </p:sp>
        <p:sp>
          <p:nvSpPr>
            <p:cNvPr id="66" name="pg66"/>
            <p:cNvSpPr/>
            <p:nvPr/>
          </p:nvSpPr>
          <p:spPr>
            <a:xfrm>
              <a:off x="2049441" y="4773868"/>
              <a:ext cx="3365213" cy="192062"/>
            </a:xfrm>
            <a:custGeom>
              <a:avLst/>
              <a:pathLst>
                <a:path w="3365213" h="192062">
                  <a:moveTo>
                    <a:pt x="26017" y="192062"/>
                  </a:moveTo>
                  <a:lnTo>
                    <a:pt x="3339196" y="192062"/>
                  </a:lnTo>
                  <a:lnTo>
                    <a:pt x="3338148" y="192041"/>
                  </a:lnTo>
                  <a:lnTo>
                    <a:pt x="3342332" y="191873"/>
                  </a:lnTo>
                  <a:lnTo>
                    <a:pt x="3346434" y="191035"/>
                  </a:lnTo>
                  <a:lnTo>
                    <a:pt x="3350349" y="189550"/>
                  </a:lnTo>
                  <a:lnTo>
                    <a:pt x="3353976" y="187457"/>
                  </a:lnTo>
                  <a:lnTo>
                    <a:pt x="3357219" y="184809"/>
                  </a:lnTo>
                  <a:lnTo>
                    <a:pt x="3359995" y="181675"/>
                  </a:lnTo>
                  <a:lnTo>
                    <a:pt x="3362233" y="178136"/>
                  </a:lnTo>
                  <a:lnTo>
                    <a:pt x="3363874" y="174284"/>
                  </a:lnTo>
                  <a:lnTo>
                    <a:pt x="3364876" y="170219"/>
                  </a:lnTo>
                  <a:lnTo>
                    <a:pt x="3365213" y="166045"/>
                  </a:lnTo>
                  <a:lnTo>
                    <a:pt x="3365213" y="26017"/>
                  </a:lnTo>
                  <a:lnTo>
                    <a:pt x="3364876" y="21843"/>
                  </a:lnTo>
                  <a:lnTo>
                    <a:pt x="3363874" y="17778"/>
                  </a:lnTo>
                  <a:lnTo>
                    <a:pt x="3362233" y="13926"/>
                  </a:lnTo>
                  <a:lnTo>
                    <a:pt x="3359995" y="10387"/>
                  </a:lnTo>
                  <a:lnTo>
                    <a:pt x="3357219" y="7253"/>
                  </a:lnTo>
                  <a:lnTo>
                    <a:pt x="3353976" y="4605"/>
                  </a:lnTo>
                  <a:lnTo>
                    <a:pt x="3350349" y="2511"/>
                  </a:lnTo>
                  <a:lnTo>
                    <a:pt x="3346434" y="1027"/>
                  </a:lnTo>
                  <a:lnTo>
                    <a:pt x="3342332" y="189"/>
                  </a:lnTo>
                  <a:lnTo>
                    <a:pt x="3339196" y="0"/>
                  </a:lnTo>
                  <a:lnTo>
                    <a:pt x="26017" y="0"/>
                  </a:lnTo>
                  <a:lnTo>
                    <a:pt x="29153" y="189"/>
                  </a:lnTo>
                  <a:lnTo>
                    <a:pt x="24969" y="21"/>
                  </a:lnTo>
                  <a:lnTo>
                    <a:pt x="20813" y="525"/>
                  </a:lnTo>
                  <a:lnTo>
                    <a:pt x="16791" y="1690"/>
                  </a:lnTo>
                  <a:lnTo>
                    <a:pt x="13008" y="3485"/>
                  </a:lnTo>
                  <a:lnTo>
                    <a:pt x="9562" y="5864"/>
                  </a:lnTo>
                  <a:lnTo>
                    <a:pt x="6543" y="8764"/>
                  </a:lnTo>
                  <a:lnTo>
                    <a:pt x="4027" y="12111"/>
                  </a:lnTo>
                  <a:lnTo>
                    <a:pt x="2081" y="15819"/>
                  </a:lnTo>
                  <a:lnTo>
                    <a:pt x="756" y="19790"/>
                  </a:lnTo>
                  <a:lnTo>
                    <a:pt x="84" y="23923"/>
                  </a:lnTo>
                  <a:lnTo>
                    <a:pt x="0" y="26017"/>
                  </a:lnTo>
                  <a:lnTo>
                    <a:pt x="0" y="166045"/>
                  </a:lnTo>
                  <a:lnTo>
                    <a:pt x="84" y="163952"/>
                  </a:lnTo>
                  <a:lnTo>
                    <a:pt x="84" y="168139"/>
                  </a:lnTo>
                  <a:lnTo>
                    <a:pt x="756" y="172272"/>
                  </a:lnTo>
                  <a:lnTo>
                    <a:pt x="2081" y="176243"/>
                  </a:lnTo>
                  <a:lnTo>
                    <a:pt x="4027" y="179950"/>
                  </a:lnTo>
                  <a:lnTo>
                    <a:pt x="6543" y="183298"/>
                  </a:lnTo>
                  <a:lnTo>
                    <a:pt x="9562" y="186198"/>
                  </a:lnTo>
                  <a:lnTo>
                    <a:pt x="13008" y="188577"/>
                  </a:lnTo>
                  <a:lnTo>
                    <a:pt x="16791" y="190372"/>
                  </a:lnTo>
                  <a:lnTo>
                    <a:pt x="20813" y="191537"/>
                  </a:lnTo>
                  <a:lnTo>
                    <a:pt x="24969" y="19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2092803" y="4817230"/>
              <a:ext cx="3278489" cy="1053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8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Historical, structure-changing: 2,495 acres/yr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517964" y="5340128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110965" y="4264185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5,000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53" y="3188242"/>
              <a:ext cx="63962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10,000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53" y="2112299"/>
              <a:ext cx="63962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15,000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1857751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2010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2253548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2011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2649346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2012</a:t>
              </a:r>
            </a:p>
          </p:txBody>
        </p:sp>
        <p:sp>
          <p:nvSpPr>
            <p:cNvPr id="75" name="tx75"/>
            <p:cNvSpPr/>
            <p:nvPr/>
          </p:nvSpPr>
          <p:spPr>
            <a:xfrm rot="-2700000">
              <a:off x="3045143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2013</a:t>
              </a:r>
            </a:p>
          </p:txBody>
        </p:sp>
        <p:sp>
          <p:nvSpPr>
            <p:cNvPr id="76" name="tx76"/>
            <p:cNvSpPr/>
            <p:nvPr/>
          </p:nvSpPr>
          <p:spPr>
            <a:xfrm rot="-2700000">
              <a:off x="3440941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2014</a:t>
              </a:r>
            </a:p>
          </p:txBody>
        </p:sp>
        <p:sp>
          <p:nvSpPr>
            <p:cNvPr id="77" name="tx77"/>
            <p:cNvSpPr/>
            <p:nvPr/>
          </p:nvSpPr>
          <p:spPr>
            <a:xfrm rot="-2700000">
              <a:off x="3836738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2015</a:t>
              </a:r>
            </a:p>
          </p:txBody>
        </p:sp>
        <p:sp>
          <p:nvSpPr>
            <p:cNvPr id="78" name="tx78"/>
            <p:cNvSpPr/>
            <p:nvPr/>
          </p:nvSpPr>
          <p:spPr>
            <a:xfrm rot="-2700000">
              <a:off x="4232536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2016</a:t>
              </a:r>
            </a:p>
          </p:txBody>
        </p:sp>
        <p:sp>
          <p:nvSpPr>
            <p:cNvPr id="79" name="tx79"/>
            <p:cNvSpPr/>
            <p:nvPr/>
          </p:nvSpPr>
          <p:spPr>
            <a:xfrm rot="-2700000">
              <a:off x="4628333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2017</a:t>
              </a:r>
            </a:p>
          </p:txBody>
        </p:sp>
        <p:sp>
          <p:nvSpPr>
            <p:cNvPr id="80" name="tx80"/>
            <p:cNvSpPr/>
            <p:nvPr/>
          </p:nvSpPr>
          <p:spPr>
            <a:xfrm rot="-2700000">
              <a:off x="5024131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2018</a:t>
              </a:r>
            </a:p>
          </p:txBody>
        </p:sp>
        <p:sp>
          <p:nvSpPr>
            <p:cNvPr id="81" name="tx81"/>
            <p:cNvSpPr/>
            <p:nvPr/>
          </p:nvSpPr>
          <p:spPr>
            <a:xfrm rot="-2700000">
              <a:off x="5419928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2019</a:t>
              </a:r>
            </a:p>
          </p:txBody>
        </p:sp>
        <p:sp>
          <p:nvSpPr>
            <p:cNvPr id="82" name="tx82"/>
            <p:cNvSpPr/>
            <p:nvPr/>
          </p:nvSpPr>
          <p:spPr>
            <a:xfrm rot="-2700000">
              <a:off x="5815726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2020</a:t>
              </a:r>
            </a:p>
          </p:txBody>
        </p:sp>
        <p:sp>
          <p:nvSpPr>
            <p:cNvPr id="83" name="tx83"/>
            <p:cNvSpPr/>
            <p:nvPr/>
          </p:nvSpPr>
          <p:spPr>
            <a:xfrm rot="-2700000">
              <a:off x="6211523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2021</a:t>
              </a:r>
            </a:p>
          </p:txBody>
        </p:sp>
        <p:sp>
          <p:nvSpPr>
            <p:cNvPr id="84" name="tx84"/>
            <p:cNvSpPr/>
            <p:nvPr/>
          </p:nvSpPr>
          <p:spPr>
            <a:xfrm rot="-2700000">
              <a:off x="6607321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2022</a:t>
              </a:r>
            </a:p>
          </p:txBody>
        </p:sp>
        <p:sp>
          <p:nvSpPr>
            <p:cNvPr id="85" name="tx85"/>
            <p:cNvSpPr/>
            <p:nvPr/>
          </p:nvSpPr>
          <p:spPr>
            <a:xfrm rot="-2700000">
              <a:off x="7003118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2023</a:t>
              </a:r>
            </a:p>
          </p:txBody>
        </p:sp>
        <p:sp>
          <p:nvSpPr>
            <p:cNvPr id="86" name="tx86"/>
            <p:cNvSpPr/>
            <p:nvPr/>
          </p:nvSpPr>
          <p:spPr>
            <a:xfrm rot="-2700000">
              <a:off x="7398916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2024</a:t>
              </a:r>
            </a:p>
          </p:txBody>
        </p:sp>
        <p:sp>
          <p:nvSpPr>
            <p:cNvPr id="87" name="tx87"/>
            <p:cNvSpPr/>
            <p:nvPr/>
          </p:nvSpPr>
          <p:spPr>
            <a:xfrm rot="-2700000">
              <a:off x="7794713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2025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-86411" y="3418836"/>
              <a:ext cx="1786463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 disturbed</a:t>
              </a:r>
            </a:p>
          </p:txBody>
        </p:sp>
        <p:sp>
          <p:nvSpPr>
            <p:cNvPr id="89" name="rc89"/>
            <p:cNvSpPr/>
            <p:nvPr/>
          </p:nvSpPr>
          <p:spPr>
            <a:xfrm>
              <a:off x="8972068" y="2968270"/>
              <a:ext cx="190001" cy="190001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8972068" y="3187726"/>
              <a:ext cx="190001" cy="190001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972068" y="3407182"/>
              <a:ext cx="190001" cy="190001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972068" y="3626638"/>
              <a:ext cx="190001" cy="190001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8972068" y="3846094"/>
              <a:ext cx="190001" cy="190001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tx94"/>
            <p:cNvSpPr/>
            <p:nvPr/>
          </p:nvSpPr>
          <p:spPr>
            <a:xfrm>
              <a:off x="9290670" y="2996657"/>
              <a:ext cx="32625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Fire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9290670" y="3216113"/>
              <a:ext cx="164207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Insects or disease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9290670" y="3435569"/>
              <a:ext cx="206398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Harvest or mechanical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9290670" y="3655025"/>
              <a:ext cx="1442648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Unknown cause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9290670" y="3874481"/>
              <a:ext cx="51901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Other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23472" y="1079052"/>
              <a:ext cx="8542324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LANDFIRE Annual Disturbance, all land, Houghton and Keweenaw counties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23472" y="708232"/>
              <a:ext cx="8669152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 disturbed each year vs. the historical expectation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Where TRG's land went</a:t>
            </a:r>
          </a:p>
        </p:txBody>
      </p:sp>
      <p:graphicFrame>
        <p:nvGraphicFramePr>
          <p:cNvPr id="3" name=""/>
          <p:cNvGraphicFramePr>
            <a:graphicFrameLocks noGrp="1"/>
          </p:cNvGraphicFramePr>
          <p:nvPr>
            <p:ph/>
          </p:nvPr>
        </p:nvGraphicFramePr>
        <p:xfrm rot="-0">
          <a:off x="548640" y="1463040"/>
          <a:ext cx="11094720" cy="2743200"/>
        </p:xfrm>
        <a:graphic>
          <a:graphicData uri="http://schemas.openxmlformats.org/drawingml/2006/table">
            <a:tbl>
              <a:tblPr firstRow="1" lastRow="0" firstColumn="0" lastColumn="0" bandRow="1" bandCol="0">
                <a:tableStyleId>{5C22544A-7EE6-4342-B048-85BDC9FD1C3A}</a:tableStyleId>
              </a:tblPr>
              <a:tblGrid>
                <a:gridCol w="1849120"/>
                <a:gridCol w="1849120"/>
                <a:gridCol w="1849120"/>
                <a:gridCol w="1849120"/>
                <a:gridCol w="1849120"/>
                <a:gridCol w="1849120"/>
              </a:tblGrid>
              <a:tr h="685800">
                <a:tc>
                  <a:txBody>
                    <a:bodyPr/>
                    <a:lstStyle/>
                    <a:p>
                      <a:pPr algn="r"/>
                      <a:r>
                        <a:t>2020 → 2026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Parcels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Acres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Canopy 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Canopy 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Acres heavily cut</a:t>
                      </a:r>
                    </a:p>
                  </a:txBody>
                </a:tc>
              </a:tr>
              <a:tr h="685800">
                <a:tc>
                  <a:txBody>
                    <a:bodyPr/>
                    <a:lstStyle/>
                    <a:p>
                      <a:pPr algn="r"/>
                      <a:r>
                        <a:t>TRG → Verdant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101,301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75.0%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73.4%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6,837 (6.7%)</a:t>
                      </a:r>
                    </a:p>
                  </a:txBody>
                </a:tc>
              </a:tr>
              <a:tr h="685800">
                <a:tc>
                  <a:txBody>
                    <a:bodyPr/>
                    <a:lstStyle/>
                    <a:p>
                      <a:pPr algn="r"/>
                      <a:r>
                        <a:t>TRG → The Nature Conservancy (Heartlands)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30,813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70.5%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75.3%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 (0.0%)</a:t>
                      </a:r>
                    </a:p>
                  </a:txBody>
                </a:tc>
              </a:tr>
              <a:tr h="685800">
                <a:tc>
                  <a:txBody>
                    <a:bodyPr/>
                    <a:lstStyle/>
                    <a:p>
                      <a:pPr algn="r"/>
                      <a:r>
                        <a:t>TRG → Verdant → American Songbird (2026)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15,350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72.7%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65.8%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3,097 (20.2%)</a:t>
                      </a:r>
                    </a:p>
                  </a:txBody>
                </a:tc>
              </a:tr>
              <a:tr h="685800">
                <a:tc>
                  <a:txBody>
                    <a:bodyPr/>
                    <a:lstStyle/>
                    <a:p>
                      <a:pPr algn="r"/>
                      <a:r>
                        <a:t>TRG → other owners / left CFP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17,361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71.3%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73.9%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46 (0.3%)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Big companies vs. other private owners</a:t>
            </a:r>
          </a:p>
        </p:txBody>
      </p:sp>
      <p:graphicFrame>
        <p:nvGraphicFramePr>
          <p:cNvPr id="3" name=""/>
          <p:cNvGraphicFramePr>
            <a:graphicFrameLocks noGrp="1"/>
          </p:cNvGraphicFramePr>
          <p:nvPr>
            <p:ph/>
          </p:nvPr>
        </p:nvGraphicFramePr>
        <p:xfrm rot="-0">
          <a:off x="548640" y="1463040"/>
          <a:ext cx="11094720" cy="2743200"/>
        </p:xfrm>
        <a:graphic>
          <a:graphicData uri="http://schemas.openxmlformats.org/drawingml/2006/table">
            <a:tbl>
              <a:tblPr firstRow="1" lastRow="0" firstColumn="0" lastColumn="0" bandRow="1" bandCol="0">
                <a:tableStyleId>{5C22544A-7EE6-4342-B048-85BDC9FD1C3A}</a:tableStyleId>
              </a:tblPr>
              <a:tblGrid>
                <a:gridCol w="2773680"/>
                <a:gridCol w="2773680"/>
                <a:gridCol w="2773680"/>
                <a:gridCol w="2773680"/>
              </a:tblGrid>
              <a:tr h="1371600">
                <a:tc>
                  <a:txBody>
                    <a:bodyPr/>
                    <a:lstStyle/>
                    <a:p>
                      <a:pPr algn="r"/>
                      <a:r>
                        <a:t> 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Acres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Acres heavily cut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Share</a:t>
                      </a:r>
                    </a:p>
                  </a:txBody>
                </a:tc>
              </a:tr>
              <a:tr h="1371600">
                <a:tc>
                  <a:txBody>
                    <a:bodyPr/>
                    <a:lstStyle/>
                    <a:p>
                      <a:pPr algn="r"/>
                      <a:r>
                        <a:t>Institutional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171,890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11,300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6.6%</a:t>
                      </a:r>
                    </a:p>
                  </a:txBody>
                </a:tc>
              </a:tr>
              <a:tr h="1371600">
                <a:tc>
                  <a:txBody>
                    <a:bodyPr/>
                    <a:lstStyle/>
                    <a:p>
                      <a:pPr algn="r"/>
                      <a:r>
                        <a:t>Other private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158,203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920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0.6%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2026-10-08T12:36:13Z</dcterms:modified>
  <cp:category/>
</cp:coreProperties>
</file>