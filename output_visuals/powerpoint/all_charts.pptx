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755653edac40d6bf63fc1bf2d05fdcd9cc94e1f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6c239e9f862f30dfdfed240932859e3ab538d31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62668c2d811e756e83474f644a77a7728139ed9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060aad93cf49c3008e90e90d6d85d6bd5c9bc46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f66e84bfb6ba7202169a87af91b6d79d20e479f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524000" y="22860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91386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42588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37898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4991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913863" y="2279081"/>
              <a:ext cx="3050205" cy="3346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913863" y="1801007"/>
              <a:ext cx="3830802" cy="3346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913863" y="2757155"/>
              <a:ext cx="1020544" cy="3346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913863" y="4669450"/>
              <a:ext cx="39897" cy="334651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913863" y="3235229"/>
              <a:ext cx="358655" cy="334651"/>
            </a:xfrm>
            <a:prstGeom prst="rect">
              <a:avLst/>
            </a:prstGeom>
            <a:solidFill>
              <a:srgbClr val="F0C4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913863" y="5147524"/>
              <a:ext cx="0" cy="3346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5913863" y="3713302"/>
              <a:ext cx="136769" cy="334651"/>
            </a:xfrm>
            <a:prstGeom prst="rect">
              <a:avLst/>
            </a:prstGeom>
            <a:solidFill>
              <a:srgbClr val="5C3A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913863" y="4191376"/>
              <a:ext cx="51640" cy="334651"/>
            </a:xfrm>
            <a:prstGeom prst="rect">
              <a:avLst/>
            </a:prstGeom>
            <a:solidFill>
              <a:srgbClr val="D2B4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063121" y="2380570"/>
              <a:ext cx="198104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3,097 of 15,350 acres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9837971" y="1902496"/>
              <a:ext cx="186610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1,160 of 4,579 acres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39207" y="2858644"/>
              <a:ext cx="209598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6,837 of 101,301 acres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038448" y="4770939"/>
              <a:ext cx="169374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 of 17,361 acres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51458" y="3336718"/>
              <a:ext cx="157880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 of 1,686 acres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92803" y="5249013"/>
              <a:ext cx="157880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 of 30,813 acres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141067" y="3814791"/>
              <a:ext cx="180868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609 of 67,380 acres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055937" y="4292865"/>
              <a:ext cx="180868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310 of 90,823 acres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23472" y="5248235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081893" y="4770162"/>
              <a:ext cx="272948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other owners / left CFP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919118" y="4292088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944642" y="3814014"/>
              <a:ext cx="286673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sold or left CFP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658684" y="3335940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50933" y="285786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773295" y="2379793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5098" y="1901719"/>
              <a:ext cx="131627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Molpus → kept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68885" y="5704179"/>
              <a:ext cx="28995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222746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734764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246782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23472" y="1353372"/>
              <a:ext cx="733632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Acres in parcels whose average canopy fell more than 20 points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3472" y="982552"/>
              <a:ext cx="5884895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acres heavily cut, 2020–2025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799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29762" y="5423503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29762" y="4787106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29762" y="4150709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9762" y="3514312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29762" y="2877915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29762" y="2241518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2349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4010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5671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7332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8993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106545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62315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397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23491" y="3300496"/>
              <a:ext cx="3874581" cy="417100"/>
            </a:xfrm>
            <a:custGeom>
              <a:avLst/>
              <a:pathLst>
                <a:path w="3874581" h="417100">
                  <a:moveTo>
                    <a:pt x="0" y="250321"/>
                  </a:moveTo>
                  <a:lnTo>
                    <a:pt x="258305" y="224673"/>
                  </a:lnTo>
                  <a:lnTo>
                    <a:pt x="516610" y="166046"/>
                  </a:lnTo>
                  <a:lnTo>
                    <a:pt x="774916" y="105974"/>
                  </a:lnTo>
                  <a:lnTo>
                    <a:pt x="1033221" y="112352"/>
                  </a:lnTo>
                  <a:lnTo>
                    <a:pt x="1291527" y="109860"/>
                  </a:lnTo>
                  <a:lnTo>
                    <a:pt x="1549832" y="0"/>
                  </a:lnTo>
                  <a:lnTo>
                    <a:pt x="1808137" y="16877"/>
                  </a:lnTo>
                  <a:lnTo>
                    <a:pt x="2066443" y="43106"/>
                  </a:lnTo>
                  <a:lnTo>
                    <a:pt x="2324748" y="157263"/>
                  </a:lnTo>
                  <a:lnTo>
                    <a:pt x="2583054" y="209620"/>
                  </a:lnTo>
                  <a:lnTo>
                    <a:pt x="2841359" y="186360"/>
                  </a:lnTo>
                  <a:lnTo>
                    <a:pt x="3099664" y="141790"/>
                  </a:lnTo>
                  <a:lnTo>
                    <a:pt x="3357970" y="291279"/>
                  </a:lnTo>
                  <a:lnTo>
                    <a:pt x="3616275" y="233903"/>
                  </a:lnTo>
                  <a:lnTo>
                    <a:pt x="3874581" y="41710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23491" y="3472270"/>
              <a:ext cx="3874581" cy="638163"/>
            </a:xfrm>
            <a:custGeom>
              <a:avLst/>
              <a:pathLst>
                <a:path w="3874581" h="638163">
                  <a:moveTo>
                    <a:pt x="0" y="466999"/>
                  </a:moveTo>
                  <a:lnTo>
                    <a:pt x="258305" y="492613"/>
                  </a:lnTo>
                  <a:lnTo>
                    <a:pt x="516610" y="508136"/>
                  </a:lnTo>
                  <a:lnTo>
                    <a:pt x="774916" y="500449"/>
                  </a:lnTo>
                  <a:lnTo>
                    <a:pt x="1033221" y="638163"/>
                  </a:lnTo>
                  <a:lnTo>
                    <a:pt x="1291527" y="626305"/>
                  </a:lnTo>
                  <a:lnTo>
                    <a:pt x="1549832" y="234860"/>
                  </a:lnTo>
                  <a:lnTo>
                    <a:pt x="1808137" y="241106"/>
                  </a:lnTo>
                  <a:lnTo>
                    <a:pt x="2066443" y="341519"/>
                  </a:lnTo>
                  <a:lnTo>
                    <a:pt x="2324748" y="429747"/>
                  </a:lnTo>
                  <a:lnTo>
                    <a:pt x="2583054" y="615920"/>
                  </a:lnTo>
                  <a:lnTo>
                    <a:pt x="2841359" y="637322"/>
                  </a:lnTo>
                  <a:lnTo>
                    <a:pt x="3099664" y="479129"/>
                  </a:lnTo>
                  <a:lnTo>
                    <a:pt x="3357970" y="271915"/>
                  </a:lnTo>
                  <a:lnTo>
                    <a:pt x="3616275" y="52181"/>
                  </a:lnTo>
                  <a:lnTo>
                    <a:pt x="3874581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23491" y="3509356"/>
              <a:ext cx="3874581" cy="1177432"/>
            </a:xfrm>
            <a:custGeom>
              <a:avLst/>
              <a:pathLst>
                <a:path w="3874581" h="1177432">
                  <a:moveTo>
                    <a:pt x="0" y="836190"/>
                  </a:moveTo>
                  <a:lnTo>
                    <a:pt x="258305" y="796332"/>
                  </a:lnTo>
                  <a:lnTo>
                    <a:pt x="516610" y="724494"/>
                  </a:lnTo>
                  <a:lnTo>
                    <a:pt x="774916" y="638099"/>
                  </a:lnTo>
                  <a:lnTo>
                    <a:pt x="1033221" y="745345"/>
                  </a:lnTo>
                  <a:lnTo>
                    <a:pt x="1291527" y="734830"/>
                  </a:lnTo>
                  <a:lnTo>
                    <a:pt x="1549832" y="393174"/>
                  </a:lnTo>
                  <a:lnTo>
                    <a:pt x="1808137" y="372502"/>
                  </a:lnTo>
                  <a:lnTo>
                    <a:pt x="2066443" y="481273"/>
                  </a:lnTo>
                  <a:lnTo>
                    <a:pt x="2324748" y="438503"/>
                  </a:lnTo>
                  <a:lnTo>
                    <a:pt x="2583054" y="301373"/>
                  </a:lnTo>
                  <a:lnTo>
                    <a:pt x="2841359" y="160417"/>
                  </a:lnTo>
                  <a:lnTo>
                    <a:pt x="3099664" y="37401"/>
                  </a:lnTo>
                  <a:lnTo>
                    <a:pt x="3357970" y="0"/>
                  </a:lnTo>
                  <a:lnTo>
                    <a:pt x="3616275" y="240430"/>
                  </a:lnTo>
                  <a:lnTo>
                    <a:pt x="3874581" y="1177432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3491" y="2818365"/>
              <a:ext cx="3874581" cy="1661975"/>
            </a:xfrm>
            <a:custGeom>
              <a:avLst/>
              <a:pathLst>
                <a:path w="3874581" h="1661975">
                  <a:moveTo>
                    <a:pt x="0" y="360517"/>
                  </a:moveTo>
                  <a:lnTo>
                    <a:pt x="258305" y="345276"/>
                  </a:lnTo>
                  <a:lnTo>
                    <a:pt x="516610" y="299839"/>
                  </a:lnTo>
                  <a:lnTo>
                    <a:pt x="774916" y="253706"/>
                  </a:lnTo>
                  <a:lnTo>
                    <a:pt x="1033221" y="289834"/>
                  </a:lnTo>
                  <a:lnTo>
                    <a:pt x="1291527" y="242495"/>
                  </a:lnTo>
                  <a:lnTo>
                    <a:pt x="1549832" y="70087"/>
                  </a:lnTo>
                  <a:lnTo>
                    <a:pt x="1808137" y="32349"/>
                  </a:lnTo>
                  <a:lnTo>
                    <a:pt x="2066443" y="0"/>
                  </a:lnTo>
                  <a:lnTo>
                    <a:pt x="2324748" y="658"/>
                  </a:lnTo>
                  <a:lnTo>
                    <a:pt x="2583054" y="20342"/>
                  </a:lnTo>
                  <a:lnTo>
                    <a:pt x="2841359" y="117154"/>
                  </a:lnTo>
                  <a:lnTo>
                    <a:pt x="3099664" y="217191"/>
                  </a:lnTo>
                  <a:lnTo>
                    <a:pt x="3357970" y="614052"/>
                  </a:lnTo>
                  <a:lnTo>
                    <a:pt x="3616275" y="724913"/>
                  </a:lnTo>
                  <a:lnTo>
                    <a:pt x="3874581" y="1661975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3491" y="2560543"/>
              <a:ext cx="3874581" cy="211420"/>
            </a:xfrm>
            <a:custGeom>
              <a:avLst/>
              <a:pathLst>
                <a:path w="3874581" h="211420">
                  <a:moveTo>
                    <a:pt x="0" y="211420"/>
                  </a:moveTo>
                  <a:lnTo>
                    <a:pt x="258305" y="172303"/>
                  </a:lnTo>
                  <a:lnTo>
                    <a:pt x="516610" y="135506"/>
                  </a:lnTo>
                  <a:lnTo>
                    <a:pt x="774916" y="102998"/>
                  </a:lnTo>
                  <a:lnTo>
                    <a:pt x="1033221" y="90015"/>
                  </a:lnTo>
                  <a:lnTo>
                    <a:pt x="1291527" y="78650"/>
                  </a:lnTo>
                  <a:lnTo>
                    <a:pt x="1549832" y="7709"/>
                  </a:lnTo>
                  <a:lnTo>
                    <a:pt x="1808137" y="1685"/>
                  </a:lnTo>
                  <a:lnTo>
                    <a:pt x="2066443" y="0"/>
                  </a:lnTo>
                  <a:lnTo>
                    <a:pt x="2324748" y="110474"/>
                  </a:lnTo>
                  <a:lnTo>
                    <a:pt x="2583054" y="106152"/>
                  </a:lnTo>
                  <a:lnTo>
                    <a:pt x="2841359" y="124892"/>
                  </a:lnTo>
                  <a:lnTo>
                    <a:pt x="3099664" y="88763"/>
                  </a:lnTo>
                  <a:lnTo>
                    <a:pt x="3357970" y="133487"/>
                  </a:lnTo>
                  <a:lnTo>
                    <a:pt x="3616275" y="133070"/>
                  </a:lnTo>
                  <a:lnTo>
                    <a:pt x="3874581" y="204261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23491" y="2932173"/>
              <a:ext cx="3874581" cy="296800"/>
            </a:xfrm>
            <a:custGeom>
              <a:avLst/>
              <a:pathLst>
                <a:path w="3874581" h="296800">
                  <a:moveTo>
                    <a:pt x="0" y="296800"/>
                  </a:moveTo>
                  <a:lnTo>
                    <a:pt x="258305" y="276109"/>
                  </a:lnTo>
                  <a:lnTo>
                    <a:pt x="516610" y="236655"/>
                  </a:lnTo>
                  <a:lnTo>
                    <a:pt x="774916" y="204570"/>
                  </a:lnTo>
                  <a:lnTo>
                    <a:pt x="1033221" y="198063"/>
                  </a:lnTo>
                  <a:lnTo>
                    <a:pt x="1291527" y="183955"/>
                  </a:lnTo>
                  <a:lnTo>
                    <a:pt x="1549832" y="71870"/>
                  </a:lnTo>
                  <a:lnTo>
                    <a:pt x="1808137" y="82537"/>
                  </a:lnTo>
                  <a:lnTo>
                    <a:pt x="2066443" y="131680"/>
                  </a:lnTo>
                  <a:lnTo>
                    <a:pt x="2324748" y="160495"/>
                  </a:lnTo>
                  <a:lnTo>
                    <a:pt x="2583054" y="175451"/>
                  </a:lnTo>
                  <a:lnTo>
                    <a:pt x="2841359" y="156096"/>
                  </a:lnTo>
                  <a:lnTo>
                    <a:pt x="3099664" y="103141"/>
                  </a:lnTo>
                  <a:lnTo>
                    <a:pt x="3357970" y="87758"/>
                  </a:lnTo>
                  <a:lnTo>
                    <a:pt x="3616275" y="0"/>
                  </a:lnTo>
                  <a:lnTo>
                    <a:pt x="3874581" y="75803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486316" y="390209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744621" y="392770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002927" y="3943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261232" y="393554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519538" y="407325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77843" y="4061401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036148" y="366995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294454" y="367620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52759" y="377661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11065" y="3864843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069370" y="405101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27675" y="407241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85981" y="391422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844286" y="370701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02592" y="348727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60897" y="343509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486316" y="273478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744621" y="269567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002927" y="2658874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261232" y="2626366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519538" y="261338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777843" y="260201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36148" y="2531077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94454" y="252505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52759" y="252336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11065" y="2633842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069370" y="262952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27675" y="264826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585981" y="261213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844286" y="2656855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102592" y="265643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360897" y="272762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486316" y="314170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744621" y="312646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002927" y="308102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61232" y="303489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519538" y="307102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777843" y="302368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036148" y="28512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94454" y="281353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52759" y="2781190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11065" y="278184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69370" y="280153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27675" y="289834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585981" y="299838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844286" y="339524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102592" y="350610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360897" y="444316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486316" y="319179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744621" y="317110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002927" y="31316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261232" y="309956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519538" y="309306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777843" y="30789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036148" y="296686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294454" y="297753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52759" y="302667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811065" y="305549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69370" y="307045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327675" y="305109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585981" y="299814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844286" y="298275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102592" y="289499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360897" y="297080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486316" y="430837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744621" y="426851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002927" y="419667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261232" y="4110280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519538" y="421752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777843" y="420701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036148" y="386535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294454" y="384468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52759" y="395345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11065" y="391068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069370" y="377355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327675" y="363259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585981" y="3509582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844286" y="347218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102592" y="371261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360897" y="464961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486316" y="351364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744621" y="348799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002927" y="342936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261232" y="336929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519538" y="337567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77843" y="337318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36148" y="326332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294454" y="328019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552759" y="330642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811065" y="342058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069370" y="347294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27675" y="344968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585981" y="340511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844286" y="355460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02592" y="349722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360897" y="368042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994653" y="5356889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994653" y="4720492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94653" y="4084095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94653" y="3447698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994653" y="2811301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94653" y="2174904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290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80747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324089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8407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35731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7392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39053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90714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-213878" y="3558244"/>
              <a:ext cx="2041398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Canopy cover (%)</a:t>
              </a:r>
            </a:p>
          </p:txBody>
        </p:sp>
        <p:sp>
          <p:nvSpPr>
            <p:cNvPr id="136" name="pl136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23472" y="1353372"/>
              <a:ext cx="686056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USFS Tree Canopy Cover, all 30 m cells in each group's land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23472" y="982552"/>
              <a:ext cx="5693145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Average tree canopy cover, by group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87826" y="5423503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87826" y="4703079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87826" y="3982655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87826" y="3262231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87826" y="2541807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87826" y="1821383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7891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0356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2820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52848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7749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0213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2678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5142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760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0071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78916" y="1971831"/>
              <a:ext cx="3821795" cy="3010064"/>
            </a:xfrm>
            <a:custGeom>
              <a:avLst/>
              <a:pathLst>
                <a:path w="3821795" h="3010064">
                  <a:moveTo>
                    <a:pt x="0" y="3010064"/>
                  </a:moveTo>
                  <a:lnTo>
                    <a:pt x="424643" y="2593290"/>
                  </a:lnTo>
                  <a:lnTo>
                    <a:pt x="849287" y="2802791"/>
                  </a:lnTo>
                  <a:lnTo>
                    <a:pt x="1273931" y="2793240"/>
                  </a:lnTo>
                  <a:lnTo>
                    <a:pt x="1698575" y="2108063"/>
                  </a:lnTo>
                  <a:lnTo>
                    <a:pt x="2123219" y="2079408"/>
                  </a:lnTo>
                  <a:lnTo>
                    <a:pt x="2547863" y="2353542"/>
                  </a:lnTo>
                  <a:lnTo>
                    <a:pt x="2972507" y="1073612"/>
                  </a:lnTo>
                  <a:lnTo>
                    <a:pt x="3397151" y="0"/>
                  </a:lnTo>
                  <a:lnTo>
                    <a:pt x="3821795" y="272988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78916" y="2181664"/>
              <a:ext cx="3821795" cy="3241838"/>
            </a:xfrm>
            <a:custGeom>
              <a:avLst/>
              <a:pathLst>
                <a:path w="3821795" h="3241838">
                  <a:moveTo>
                    <a:pt x="0" y="3140531"/>
                  </a:moveTo>
                  <a:lnTo>
                    <a:pt x="424643" y="2869066"/>
                  </a:lnTo>
                  <a:lnTo>
                    <a:pt x="849287" y="2231714"/>
                  </a:lnTo>
                  <a:lnTo>
                    <a:pt x="1273931" y="2101883"/>
                  </a:lnTo>
                  <a:lnTo>
                    <a:pt x="1698575" y="1382895"/>
                  </a:lnTo>
                  <a:lnTo>
                    <a:pt x="2123219" y="0"/>
                  </a:lnTo>
                  <a:lnTo>
                    <a:pt x="2547863" y="424901"/>
                  </a:lnTo>
                  <a:lnTo>
                    <a:pt x="2972507" y="2554324"/>
                  </a:lnTo>
                  <a:lnTo>
                    <a:pt x="3397151" y="3239871"/>
                  </a:lnTo>
                  <a:lnTo>
                    <a:pt x="3821795" y="3241838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78916" y="1859680"/>
              <a:ext cx="3821795" cy="3496896"/>
            </a:xfrm>
            <a:custGeom>
              <a:avLst/>
              <a:pathLst>
                <a:path w="3821795" h="3496896">
                  <a:moveTo>
                    <a:pt x="0" y="2768143"/>
                  </a:moveTo>
                  <a:lnTo>
                    <a:pt x="424643" y="2913150"/>
                  </a:lnTo>
                  <a:lnTo>
                    <a:pt x="849287" y="2572942"/>
                  </a:lnTo>
                  <a:lnTo>
                    <a:pt x="1273931" y="509383"/>
                  </a:lnTo>
                  <a:lnTo>
                    <a:pt x="1698575" y="3067453"/>
                  </a:lnTo>
                  <a:lnTo>
                    <a:pt x="2123219" y="3496896"/>
                  </a:lnTo>
                  <a:lnTo>
                    <a:pt x="2547863" y="2528324"/>
                  </a:lnTo>
                  <a:lnTo>
                    <a:pt x="2972507" y="819846"/>
                  </a:lnTo>
                  <a:lnTo>
                    <a:pt x="3397151" y="2463257"/>
                  </a:lnTo>
                  <a:lnTo>
                    <a:pt x="3821795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78916" y="3447307"/>
              <a:ext cx="3821795" cy="1976195"/>
            </a:xfrm>
            <a:custGeom>
              <a:avLst/>
              <a:pathLst>
                <a:path w="3821795" h="1976195">
                  <a:moveTo>
                    <a:pt x="0" y="1970278"/>
                  </a:moveTo>
                  <a:lnTo>
                    <a:pt x="424643" y="1964362"/>
                  </a:lnTo>
                  <a:lnTo>
                    <a:pt x="849287" y="1976195"/>
                  </a:lnTo>
                  <a:lnTo>
                    <a:pt x="1273931" y="1976195"/>
                  </a:lnTo>
                  <a:lnTo>
                    <a:pt x="1698575" y="1976195"/>
                  </a:lnTo>
                  <a:lnTo>
                    <a:pt x="2123219" y="1958445"/>
                  </a:lnTo>
                  <a:lnTo>
                    <a:pt x="2547863" y="1970278"/>
                  </a:lnTo>
                  <a:lnTo>
                    <a:pt x="2972507" y="544341"/>
                  </a:lnTo>
                  <a:lnTo>
                    <a:pt x="3397151" y="698176"/>
                  </a:lnTo>
                  <a:lnTo>
                    <a:pt x="3821795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78916" y="4932326"/>
              <a:ext cx="3821795" cy="491176"/>
            </a:xfrm>
            <a:custGeom>
              <a:avLst/>
              <a:pathLst>
                <a:path w="3821795" h="491176">
                  <a:moveTo>
                    <a:pt x="0" y="491176"/>
                  </a:moveTo>
                  <a:lnTo>
                    <a:pt x="424643" y="491176"/>
                  </a:lnTo>
                  <a:lnTo>
                    <a:pt x="849287" y="491176"/>
                  </a:lnTo>
                  <a:lnTo>
                    <a:pt x="1273931" y="358936"/>
                  </a:lnTo>
                  <a:lnTo>
                    <a:pt x="1698575" y="472285"/>
                  </a:lnTo>
                  <a:lnTo>
                    <a:pt x="2123219" y="491176"/>
                  </a:lnTo>
                  <a:lnTo>
                    <a:pt x="2547863" y="491176"/>
                  </a:lnTo>
                  <a:lnTo>
                    <a:pt x="2972507" y="491176"/>
                  </a:lnTo>
                  <a:lnTo>
                    <a:pt x="3397151" y="0"/>
                  </a:lnTo>
                  <a:lnTo>
                    <a:pt x="3821795" y="434502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78916" y="4918668"/>
              <a:ext cx="3821795" cy="463379"/>
            </a:xfrm>
            <a:custGeom>
              <a:avLst/>
              <a:pathLst>
                <a:path w="3821795" h="463379">
                  <a:moveTo>
                    <a:pt x="0" y="420871"/>
                  </a:moveTo>
                  <a:lnTo>
                    <a:pt x="424643" y="239594"/>
                  </a:lnTo>
                  <a:lnTo>
                    <a:pt x="849287" y="274374"/>
                  </a:lnTo>
                  <a:lnTo>
                    <a:pt x="1273931" y="0"/>
                  </a:lnTo>
                  <a:lnTo>
                    <a:pt x="1698575" y="359391"/>
                  </a:lnTo>
                  <a:lnTo>
                    <a:pt x="2123219" y="244512"/>
                  </a:lnTo>
                  <a:lnTo>
                    <a:pt x="2547863" y="268753"/>
                  </a:lnTo>
                  <a:lnTo>
                    <a:pt x="2972507" y="41103"/>
                  </a:lnTo>
                  <a:lnTo>
                    <a:pt x="3397151" y="397333"/>
                  </a:lnTo>
                  <a:lnTo>
                    <a:pt x="3821795" y="463379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541741" y="4944720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66385" y="4527947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391029" y="473744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15673" y="472789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240317" y="404271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64961" y="401406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089605" y="428819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514249" y="300826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38892" y="193465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363536" y="466453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41741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96638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391029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815673" y="525408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240317" y="5367436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64961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08960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514249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938892" y="489515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363536" y="532965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541741" y="538041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966385" y="537449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391029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815673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40317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64961" y="53685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089605" y="538041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514249" y="395447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38892" y="410830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363536" y="341013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541741" y="530236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66385" y="512108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391029" y="515586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815673" y="488149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240317" y="524088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664961" y="512600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89605" y="515024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14249" y="492259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938892" y="527882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63536" y="534487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541741" y="528502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966385" y="501355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391029" y="437620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815673" y="4246373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40317" y="352738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64961" y="214448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89605" y="256939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14249" y="469881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938892" y="538436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363536" y="538632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541741" y="459064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966385" y="473565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391029" y="439544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815673" y="23318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240317" y="488995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664961" y="531940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89605" y="4350830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14249" y="264235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938892" y="428576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363536" y="182250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994653" y="5356889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94653" y="4636465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994653" y="3916041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94653" y="3195617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994653" y="2475193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994653" y="1754769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34629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770937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19558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620224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044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46951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894156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3188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743444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16808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03" name="tx103"/>
            <p:cNvSpPr/>
            <p:nvPr/>
          </p:nvSpPr>
          <p:spPr>
            <a:xfrm rot="-5400000">
              <a:off x="-198242" y="3558244"/>
              <a:ext cx="201012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% of area cleared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23472" y="1353372"/>
              <a:ext cx="5879226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Hansen Global Forest Change (heavy clearing only)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23472" y="982552"/>
              <a:ext cx="6992233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each group's land cleared each year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799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29762" y="5423503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29762" y="4488105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29762" y="3552707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9762" y="2617309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29762" y="1681911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2349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04010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5671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07332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58993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106545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2315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397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23491" y="4456978"/>
              <a:ext cx="3874581" cy="877520"/>
            </a:xfrm>
            <a:custGeom>
              <a:avLst/>
              <a:pathLst>
                <a:path w="3874581" h="877520">
                  <a:moveTo>
                    <a:pt x="0" y="620469"/>
                  </a:moveTo>
                  <a:lnTo>
                    <a:pt x="258305" y="709639"/>
                  </a:lnTo>
                  <a:lnTo>
                    <a:pt x="516610" y="487933"/>
                  </a:lnTo>
                  <a:lnTo>
                    <a:pt x="774916" y="877520"/>
                  </a:lnTo>
                  <a:lnTo>
                    <a:pt x="1033221" y="858379"/>
                  </a:lnTo>
                  <a:lnTo>
                    <a:pt x="1291527" y="685868"/>
                  </a:lnTo>
                  <a:lnTo>
                    <a:pt x="1549832" y="458086"/>
                  </a:lnTo>
                  <a:lnTo>
                    <a:pt x="1808137" y="451802"/>
                  </a:lnTo>
                  <a:lnTo>
                    <a:pt x="2066443" y="743248"/>
                  </a:lnTo>
                  <a:lnTo>
                    <a:pt x="2324748" y="474704"/>
                  </a:lnTo>
                  <a:lnTo>
                    <a:pt x="2583054" y="524560"/>
                  </a:lnTo>
                  <a:lnTo>
                    <a:pt x="2841359" y="396283"/>
                  </a:lnTo>
                  <a:lnTo>
                    <a:pt x="3099664" y="343947"/>
                  </a:lnTo>
                  <a:lnTo>
                    <a:pt x="3357970" y="0"/>
                  </a:lnTo>
                  <a:lnTo>
                    <a:pt x="3616275" y="613689"/>
                  </a:lnTo>
                  <a:lnTo>
                    <a:pt x="3874581" y="379582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23491" y="4095995"/>
              <a:ext cx="3874581" cy="1324697"/>
            </a:xfrm>
            <a:custGeom>
              <a:avLst/>
              <a:pathLst>
                <a:path w="3874581" h="1324697">
                  <a:moveTo>
                    <a:pt x="0" y="1190095"/>
                  </a:moveTo>
                  <a:lnTo>
                    <a:pt x="258305" y="1064687"/>
                  </a:lnTo>
                  <a:lnTo>
                    <a:pt x="516610" y="1084226"/>
                  </a:lnTo>
                  <a:lnTo>
                    <a:pt x="774916" y="1057536"/>
                  </a:lnTo>
                  <a:lnTo>
                    <a:pt x="1033221" y="1290855"/>
                  </a:lnTo>
                  <a:lnTo>
                    <a:pt x="1291527" y="1214614"/>
                  </a:lnTo>
                  <a:lnTo>
                    <a:pt x="1549832" y="1004154"/>
                  </a:lnTo>
                  <a:lnTo>
                    <a:pt x="1808137" y="1070306"/>
                  </a:lnTo>
                  <a:lnTo>
                    <a:pt x="2066443" y="711324"/>
                  </a:lnTo>
                  <a:lnTo>
                    <a:pt x="2324748" y="935193"/>
                  </a:lnTo>
                  <a:lnTo>
                    <a:pt x="2583054" y="455017"/>
                  </a:lnTo>
                  <a:lnTo>
                    <a:pt x="2841359" y="0"/>
                  </a:lnTo>
                  <a:lnTo>
                    <a:pt x="3099664" y="1099551"/>
                  </a:lnTo>
                  <a:lnTo>
                    <a:pt x="3357970" y="1324697"/>
                  </a:lnTo>
                  <a:lnTo>
                    <a:pt x="3616275" y="1252416"/>
                  </a:lnTo>
                  <a:lnTo>
                    <a:pt x="3874581" y="1189839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23491" y="3058698"/>
              <a:ext cx="3874581" cy="2361184"/>
            </a:xfrm>
            <a:custGeom>
              <a:avLst/>
              <a:pathLst>
                <a:path w="3874581" h="2361184">
                  <a:moveTo>
                    <a:pt x="0" y="1386248"/>
                  </a:moveTo>
                  <a:lnTo>
                    <a:pt x="258305" y="1810595"/>
                  </a:lnTo>
                  <a:lnTo>
                    <a:pt x="516610" y="2178459"/>
                  </a:lnTo>
                  <a:lnTo>
                    <a:pt x="774916" y="2270425"/>
                  </a:lnTo>
                  <a:lnTo>
                    <a:pt x="1033221" y="2158183"/>
                  </a:lnTo>
                  <a:lnTo>
                    <a:pt x="1291527" y="1799250"/>
                  </a:lnTo>
                  <a:lnTo>
                    <a:pt x="1549832" y="2049562"/>
                  </a:lnTo>
                  <a:lnTo>
                    <a:pt x="1808137" y="1699560"/>
                  </a:lnTo>
                  <a:lnTo>
                    <a:pt x="2066443" y="1684353"/>
                  </a:lnTo>
                  <a:lnTo>
                    <a:pt x="2324748" y="2116424"/>
                  </a:lnTo>
                  <a:lnTo>
                    <a:pt x="2583054" y="2361184"/>
                  </a:lnTo>
                  <a:lnTo>
                    <a:pt x="2841359" y="2049562"/>
                  </a:lnTo>
                  <a:lnTo>
                    <a:pt x="3099664" y="1950354"/>
                  </a:lnTo>
                  <a:lnTo>
                    <a:pt x="3357970" y="2049562"/>
                  </a:lnTo>
                  <a:lnTo>
                    <a:pt x="3616275" y="1272316"/>
                  </a:lnTo>
                  <a:lnTo>
                    <a:pt x="3874581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23491" y="1859680"/>
              <a:ext cx="3874581" cy="3563822"/>
            </a:xfrm>
            <a:custGeom>
              <a:avLst/>
              <a:pathLst>
                <a:path w="3874581" h="3563822">
                  <a:moveTo>
                    <a:pt x="0" y="3563822"/>
                  </a:moveTo>
                  <a:lnTo>
                    <a:pt x="258305" y="3486231"/>
                  </a:lnTo>
                  <a:lnTo>
                    <a:pt x="516610" y="3482390"/>
                  </a:lnTo>
                  <a:lnTo>
                    <a:pt x="774916" y="3445515"/>
                  </a:lnTo>
                  <a:lnTo>
                    <a:pt x="1033221" y="3324902"/>
                  </a:lnTo>
                  <a:lnTo>
                    <a:pt x="1291527" y="3555372"/>
                  </a:lnTo>
                  <a:lnTo>
                    <a:pt x="1549832" y="3503900"/>
                  </a:lnTo>
                  <a:lnTo>
                    <a:pt x="1808137" y="3563822"/>
                  </a:lnTo>
                  <a:lnTo>
                    <a:pt x="2066443" y="3563822"/>
                  </a:lnTo>
                  <a:lnTo>
                    <a:pt x="2324748" y="3563822"/>
                  </a:lnTo>
                  <a:lnTo>
                    <a:pt x="2583054" y="3498523"/>
                  </a:lnTo>
                  <a:lnTo>
                    <a:pt x="2841359" y="3123626"/>
                  </a:lnTo>
                  <a:lnTo>
                    <a:pt x="3099664" y="341862"/>
                  </a:lnTo>
                  <a:lnTo>
                    <a:pt x="3357970" y="0"/>
                  </a:lnTo>
                  <a:lnTo>
                    <a:pt x="3616275" y="2161801"/>
                  </a:lnTo>
                  <a:lnTo>
                    <a:pt x="3874581" y="2315447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3491" y="3203665"/>
              <a:ext cx="3874581" cy="2219837"/>
            </a:xfrm>
            <a:custGeom>
              <a:avLst/>
              <a:pathLst>
                <a:path w="3874581" h="2219837">
                  <a:moveTo>
                    <a:pt x="0" y="2219837"/>
                  </a:moveTo>
                  <a:lnTo>
                    <a:pt x="258305" y="2207573"/>
                  </a:lnTo>
                  <a:lnTo>
                    <a:pt x="516610" y="2219837"/>
                  </a:lnTo>
                  <a:lnTo>
                    <a:pt x="774916" y="2219837"/>
                  </a:lnTo>
                  <a:lnTo>
                    <a:pt x="1033221" y="2219837"/>
                  </a:lnTo>
                  <a:lnTo>
                    <a:pt x="1291527" y="2219837"/>
                  </a:lnTo>
                  <a:lnTo>
                    <a:pt x="1549832" y="2219837"/>
                  </a:lnTo>
                  <a:lnTo>
                    <a:pt x="1808137" y="2178138"/>
                  </a:lnTo>
                  <a:lnTo>
                    <a:pt x="2066443" y="2190403"/>
                  </a:lnTo>
                  <a:lnTo>
                    <a:pt x="2324748" y="2219837"/>
                  </a:lnTo>
                  <a:lnTo>
                    <a:pt x="2583054" y="2219837"/>
                  </a:lnTo>
                  <a:lnTo>
                    <a:pt x="2841359" y="1709642"/>
                  </a:lnTo>
                  <a:lnTo>
                    <a:pt x="3099664" y="2160968"/>
                  </a:lnTo>
                  <a:lnTo>
                    <a:pt x="3357970" y="0"/>
                  </a:lnTo>
                  <a:lnTo>
                    <a:pt x="3616275" y="2219837"/>
                  </a:lnTo>
                  <a:lnTo>
                    <a:pt x="3874581" y="1444734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3491" y="4530832"/>
              <a:ext cx="3874581" cy="848197"/>
            </a:xfrm>
            <a:custGeom>
              <a:avLst/>
              <a:pathLst>
                <a:path w="3874581" h="848197">
                  <a:moveTo>
                    <a:pt x="0" y="453998"/>
                  </a:moveTo>
                  <a:lnTo>
                    <a:pt x="258305" y="0"/>
                  </a:lnTo>
                  <a:lnTo>
                    <a:pt x="516610" y="427496"/>
                  </a:lnTo>
                  <a:lnTo>
                    <a:pt x="774916" y="810519"/>
                  </a:lnTo>
                  <a:lnTo>
                    <a:pt x="1033221" y="848197"/>
                  </a:lnTo>
                  <a:lnTo>
                    <a:pt x="1291527" y="767961"/>
                  </a:lnTo>
                  <a:lnTo>
                    <a:pt x="1549832" y="558546"/>
                  </a:lnTo>
                  <a:lnTo>
                    <a:pt x="1808137" y="534872"/>
                  </a:lnTo>
                  <a:lnTo>
                    <a:pt x="2066443" y="617343"/>
                  </a:lnTo>
                  <a:lnTo>
                    <a:pt x="2324748" y="510423"/>
                  </a:lnTo>
                  <a:lnTo>
                    <a:pt x="2583054" y="570315"/>
                  </a:lnTo>
                  <a:lnTo>
                    <a:pt x="2841359" y="262145"/>
                  </a:lnTo>
                  <a:lnTo>
                    <a:pt x="3099664" y="237650"/>
                  </a:lnTo>
                  <a:lnTo>
                    <a:pt x="3357970" y="280162"/>
                  </a:lnTo>
                  <a:lnTo>
                    <a:pt x="3616275" y="786252"/>
                  </a:lnTo>
                  <a:lnTo>
                    <a:pt x="3874581" y="446426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486316" y="524891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44621" y="512350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002927" y="514304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261232" y="511635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519538" y="534967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77843" y="527343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36148" y="506297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294454" y="512912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52759" y="477014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11065" y="499401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069370" y="451383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27675" y="405882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85981" y="515837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844286" y="538351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102592" y="531123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360897" y="524866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486316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44621" y="537406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002927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261232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519538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77843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36148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94454" y="534462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52759" y="535689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1106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69370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27675" y="487613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85981" y="532745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844286" y="316649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102592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360897" y="4611224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486316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744621" y="530873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002927" y="530489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61232" y="5268020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519538" y="514740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77843" y="53778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036148" y="532640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294454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52759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811065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069370" y="53210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327675" y="494613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85981" y="216436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844286" y="182250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102592" y="398430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360897" y="413795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486316" y="494765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744621" y="449365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002927" y="492115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261232" y="530417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519538" y="53418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777843" y="526161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036148" y="505220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294454" y="502852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52759" y="511100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811065" y="500408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069370" y="506397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327675" y="475580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85981" y="473130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844286" y="477381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102592" y="527991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360897" y="494008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486316" y="440777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744621" y="483211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02927" y="5199982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261232" y="529194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19538" y="517970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777843" y="482077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036148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294454" y="472108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52759" y="470587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811065" y="513794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069370" y="538270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327675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585981" y="497187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844286" y="507108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102592" y="429383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360897" y="302152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486316" y="504027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744621" y="512944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002927" y="4907737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61232" y="529732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519538" y="527818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777843" y="510567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036148" y="487788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294454" y="487160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52759" y="516305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811065" y="489450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69370" y="494436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327675" y="481608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585981" y="4763750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844286" y="441980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102592" y="503349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360897" y="479938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1110965" y="535688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10965" y="4421491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994653" y="3486093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94653" y="2550695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94653" y="1615297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290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80747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324089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8407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35731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87392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39053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90714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-319400" y="3558244"/>
              <a:ext cx="2252441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% of area disturbed</a:t>
              </a:r>
            </a:p>
          </p:txBody>
        </p:sp>
        <p:sp>
          <p:nvSpPr>
            <p:cNvPr id="134" name="pl134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723472" y="1353372"/>
              <a:ext cx="457657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LANDFIRE Annual Disturbance, all types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23472" y="982552"/>
              <a:ext cx="7340803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each group's land disturbed each year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620450" y="4780386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20450" y="3882437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20450" y="2984488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20450" y="2086540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841682" y="4579888"/>
              <a:ext cx="153989" cy="20049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52321" y="4685329"/>
              <a:ext cx="153989" cy="95056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662960" y="4656173"/>
              <a:ext cx="153989" cy="12421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073599" y="4739248"/>
              <a:ext cx="153989" cy="4113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484239" y="4629014"/>
              <a:ext cx="153989" cy="15137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894878" y="4370204"/>
              <a:ext cx="153989" cy="41018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05517" y="4317484"/>
              <a:ext cx="153989" cy="46290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16156" y="4025523"/>
              <a:ext cx="153989" cy="754863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5126796" y="3463969"/>
              <a:ext cx="153989" cy="1316417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537435" y="3636509"/>
              <a:ext cx="153989" cy="1143877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948074" y="4501207"/>
              <a:ext cx="153989" cy="27917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005937" y="3010252"/>
              <a:ext cx="153989" cy="177013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416577" y="4177694"/>
              <a:ext cx="153989" cy="60269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827216" y="2634019"/>
              <a:ext cx="153989" cy="2146367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237855" y="4224823"/>
              <a:ext cx="153989" cy="55556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48494" y="4123376"/>
              <a:ext cx="153989" cy="65701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059134" y="4086232"/>
              <a:ext cx="153989" cy="694154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469773" y="3049793"/>
              <a:ext cx="153989" cy="173059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880412" y="3321783"/>
              <a:ext cx="153989" cy="145860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291051" y="2768616"/>
              <a:ext cx="153989" cy="2011769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01691" y="3281444"/>
              <a:ext cx="153989" cy="149894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112330" y="4555525"/>
              <a:ext cx="153989" cy="224861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601425" y="4780386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601425" y="3882437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601425" y="2984488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601425" y="2086540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822656" y="4609444"/>
              <a:ext cx="153989" cy="17094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233296" y="4640597"/>
              <a:ext cx="153989" cy="13978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43935" y="4567507"/>
              <a:ext cx="153989" cy="21287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054574" y="4124175"/>
              <a:ext cx="153989" cy="65621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8465214" y="4673747"/>
              <a:ext cx="153989" cy="10663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8875853" y="4766008"/>
              <a:ext cx="153989" cy="1437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286492" y="4557921"/>
              <a:ext cx="153989" cy="222464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697131" y="4190874"/>
              <a:ext cx="153989" cy="58951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107771" y="4543942"/>
              <a:ext cx="153989" cy="236443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518410" y="4014740"/>
              <a:ext cx="153989" cy="765646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929049" y="4780386"/>
              <a:ext cx="153989" cy="0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986912" y="2748647"/>
              <a:ext cx="153989" cy="2031739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397551" y="4386180"/>
              <a:ext cx="153989" cy="394206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808191" y="4265162"/>
              <a:ext cx="153989" cy="51522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8218830" y="3763917"/>
              <a:ext cx="153989" cy="1016468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8629469" y="4444492"/>
              <a:ext cx="153989" cy="335894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9040109" y="4724470"/>
              <a:ext cx="153989" cy="55915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9450748" y="4598660"/>
              <a:ext cx="153989" cy="181726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9861387" y="4443693"/>
              <a:ext cx="153989" cy="33669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272026" y="4383784"/>
              <a:ext cx="153989" cy="39660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682666" y="3286636"/>
              <a:ext cx="153989" cy="149375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1093305" y="1853195"/>
              <a:ext cx="153989" cy="292719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817275" y="1463490"/>
              <a:ext cx="247345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Heartlands (2012–2022)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98742" y="1463490"/>
              <a:ext cx="227246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Songbird (2015–2025)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768181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89459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410738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32017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053295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874574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749156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70434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391713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212991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0034270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0855549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401652" y="4713772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169029" y="3815823"/>
              <a:ext cx="34893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994653" y="2917874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1,000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994653" y="2019925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1,500</a:t>
              </a:r>
            </a:p>
          </p:txBody>
        </p:sp>
        <p:sp>
          <p:nvSpPr>
            <p:cNvPr id="75" name="tx75"/>
            <p:cNvSpPr/>
            <p:nvPr/>
          </p:nvSpPr>
          <p:spPr>
            <a:xfrm rot="-5400000">
              <a:off x="493455" y="3233443"/>
              <a:ext cx="626729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3870468" y="5556845"/>
              <a:ext cx="190001" cy="19000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324687" y="5556845"/>
              <a:ext cx="190001" cy="190001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4189070" y="5585232"/>
              <a:ext cx="200701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Hansen forest cleared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643289" y="5585232"/>
              <a:ext cx="25899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USFS canopy fell 15+ points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23472" y="982552"/>
              <a:ext cx="7656088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where canopy dropped, by year and source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620450" y="4687823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20450" y="4134430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20450" y="358103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20450" y="3027644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714117" y="4605118"/>
              <a:ext cx="165295" cy="82704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890433" y="4127662"/>
              <a:ext cx="165295" cy="5601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154906" y="4646594"/>
              <a:ext cx="165295" cy="4122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331222" y="4646409"/>
              <a:ext cx="165295" cy="4141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95695" y="4620072"/>
              <a:ext cx="165295" cy="6775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72011" y="4612195"/>
              <a:ext cx="165295" cy="7562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036484" y="4602472"/>
              <a:ext cx="165295" cy="8535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12800" y="4601242"/>
              <a:ext cx="165295" cy="8658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477273" y="4579827"/>
              <a:ext cx="165295" cy="107995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653589" y="4611703"/>
              <a:ext cx="165295" cy="7611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918062" y="4488016"/>
              <a:ext cx="165295" cy="19980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094378" y="4539952"/>
              <a:ext cx="165295" cy="14787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358851" y="4208212"/>
              <a:ext cx="165295" cy="47961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535167" y="4289932"/>
              <a:ext cx="165295" cy="39789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799640" y="2826302"/>
              <a:ext cx="165295" cy="186152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975956" y="3197855"/>
              <a:ext cx="165295" cy="148996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40429" y="2847162"/>
              <a:ext cx="165295" cy="184066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416745" y="2804087"/>
              <a:ext cx="165295" cy="188373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681218" y="4685177"/>
              <a:ext cx="165295" cy="264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857534" y="4677915"/>
              <a:ext cx="165295" cy="990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72479" y="4687823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972479" y="410939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972479" y="3530972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972479" y="295254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066146" y="4529005"/>
              <a:ext cx="165295" cy="15881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7242462" y="4572562"/>
              <a:ext cx="165295" cy="1152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7506935" y="4654016"/>
              <a:ext cx="165295" cy="3380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683251" y="4677763"/>
              <a:ext cx="165295" cy="1005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947724" y="4645063"/>
              <a:ext cx="165295" cy="4275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124040" y="4666726"/>
              <a:ext cx="165295" cy="2109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8388513" y="4620776"/>
              <a:ext cx="165295" cy="6704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8564829" y="4660320"/>
              <a:ext cx="165295" cy="27502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829302" y="4590031"/>
              <a:ext cx="165295" cy="97791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005618" y="4654325"/>
              <a:ext cx="165295" cy="3349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270091" y="4514495"/>
              <a:ext cx="165295" cy="17332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446407" y="4617946"/>
              <a:ext cx="165295" cy="6987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710880" y="4284386"/>
              <a:ext cx="165295" cy="40343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887196" y="4414697"/>
              <a:ext cx="165295" cy="27312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151669" y="3301508"/>
              <a:ext cx="165295" cy="1386314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327985" y="3386590"/>
              <a:ext cx="165295" cy="130123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592458" y="3291140"/>
              <a:ext cx="165295" cy="1396682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768774" y="2804087"/>
              <a:ext cx="165295" cy="188373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1033247" y="4679873"/>
              <a:ext cx="165295" cy="794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1209563" y="4655277"/>
              <a:ext cx="165295" cy="3254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2885036" y="2466555"/>
              <a:ext cx="196687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American Songbird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071010" y="2466555"/>
              <a:ext cx="229898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Keweenaw Heartlands</a:t>
              </a:r>
            </a:p>
          </p:txBody>
        </p:sp>
        <p:sp>
          <p:nvSpPr>
            <p:cNvPr id="55" name="tx55"/>
            <p:cNvSpPr/>
            <p:nvPr/>
          </p:nvSpPr>
          <p:spPr>
            <a:xfrm rot="-2700000">
              <a:off x="1407928" y="5082073"/>
              <a:ext cx="61401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0–10%</a:t>
              </a:r>
            </a:p>
          </p:txBody>
        </p:sp>
        <p:sp>
          <p:nvSpPr>
            <p:cNvPr id="56" name="tx56"/>
            <p:cNvSpPr/>
            <p:nvPr/>
          </p:nvSpPr>
          <p:spPr>
            <a:xfrm rot="-2700000">
              <a:off x="1749439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10–20%</a:t>
              </a:r>
            </a:p>
          </p:txBody>
        </p:sp>
        <p:sp>
          <p:nvSpPr>
            <p:cNvPr id="57" name="tx57"/>
            <p:cNvSpPr/>
            <p:nvPr/>
          </p:nvSpPr>
          <p:spPr>
            <a:xfrm rot="-2700000">
              <a:off x="2190228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20–30%</a:t>
              </a:r>
            </a:p>
          </p:txBody>
        </p:sp>
        <p:sp>
          <p:nvSpPr>
            <p:cNvPr id="58" name="tx58"/>
            <p:cNvSpPr/>
            <p:nvPr/>
          </p:nvSpPr>
          <p:spPr>
            <a:xfrm rot="-2700000">
              <a:off x="2631017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30–40%</a:t>
              </a:r>
            </a:p>
          </p:txBody>
        </p:sp>
        <p:sp>
          <p:nvSpPr>
            <p:cNvPr id="59" name="tx59"/>
            <p:cNvSpPr/>
            <p:nvPr/>
          </p:nvSpPr>
          <p:spPr>
            <a:xfrm rot="-2700000">
              <a:off x="3071806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40–50%</a:t>
              </a:r>
            </a:p>
          </p:txBody>
        </p:sp>
        <p:sp>
          <p:nvSpPr>
            <p:cNvPr id="60" name="tx60"/>
            <p:cNvSpPr/>
            <p:nvPr/>
          </p:nvSpPr>
          <p:spPr>
            <a:xfrm rot="-2700000">
              <a:off x="3512595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50–60%</a:t>
              </a:r>
            </a:p>
          </p:txBody>
        </p:sp>
        <p:sp>
          <p:nvSpPr>
            <p:cNvPr id="61" name="tx61"/>
            <p:cNvSpPr/>
            <p:nvPr/>
          </p:nvSpPr>
          <p:spPr>
            <a:xfrm rot="-2700000">
              <a:off x="3953384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60–70%</a:t>
              </a:r>
            </a:p>
          </p:txBody>
        </p:sp>
        <p:sp>
          <p:nvSpPr>
            <p:cNvPr id="62" name="tx62"/>
            <p:cNvSpPr/>
            <p:nvPr/>
          </p:nvSpPr>
          <p:spPr>
            <a:xfrm rot="-2700000">
              <a:off x="4394173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70–80%</a:t>
              </a:r>
            </a:p>
          </p:txBody>
        </p:sp>
        <p:sp>
          <p:nvSpPr>
            <p:cNvPr id="63" name="tx63"/>
            <p:cNvSpPr/>
            <p:nvPr/>
          </p:nvSpPr>
          <p:spPr>
            <a:xfrm rot="-2700000">
              <a:off x="4834961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80–90%</a:t>
              </a:r>
            </a:p>
          </p:txBody>
        </p:sp>
        <p:sp>
          <p:nvSpPr>
            <p:cNvPr id="64" name="tx64"/>
            <p:cNvSpPr/>
            <p:nvPr/>
          </p:nvSpPr>
          <p:spPr>
            <a:xfrm rot="-2700000">
              <a:off x="5176472" y="5164318"/>
              <a:ext cx="84664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90–100%</a:t>
              </a:r>
            </a:p>
          </p:txBody>
        </p:sp>
        <p:sp>
          <p:nvSpPr>
            <p:cNvPr id="65" name="tx65"/>
            <p:cNvSpPr/>
            <p:nvPr/>
          </p:nvSpPr>
          <p:spPr>
            <a:xfrm rot="-2700000">
              <a:off x="6759957" y="5082073"/>
              <a:ext cx="61401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0–10%</a:t>
              </a:r>
            </a:p>
          </p:txBody>
        </p:sp>
        <p:sp>
          <p:nvSpPr>
            <p:cNvPr id="66" name="tx66"/>
            <p:cNvSpPr/>
            <p:nvPr/>
          </p:nvSpPr>
          <p:spPr>
            <a:xfrm rot="-2700000">
              <a:off x="7101468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10–20%</a:t>
              </a:r>
            </a:p>
          </p:txBody>
        </p:sp>
        <p:sp>
          <p:nvSpPr>
            <p:cNvPr id="67" name="tx67"/>
            <p:cNvSpPr/>
            <p:nvPr/>
          </p:nvSpPr>
          <p:spPr>
            <a:xfrm rot="-2700000">
              <a:off x="7542257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20–30%</a:t>
              </a:r>
            </a:p>
          </p:txBody>
        </p:sp>
        <p:sp>
          <p:nvSpPr>
            <p:cNvPr id="68" name="tx68"/>
            <p:cNvSpPr/>
            <p:nvPr/>
          </p:nvSpPr>
          <p:spPr>
            <a:xfrm rot="-2700000">
              <a:off x="7983046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30–40%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8423835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40–50%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8864624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50–60%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9305413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60–70%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9746202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70–80%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10186991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80–90%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10528501" y="5164318"/>
              <a:ext cx="84664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90–100%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753681" y="462120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346682" y="404278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5,000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230370" y="3464358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230370" y="2885933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15,000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401652" y="462120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94653" y="4067816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2,000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94653" y="351442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4,000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994653" y="2961030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6,000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757876" y="5661203"/>
              <a:ext cx="157322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Canopy cover</a:t>
              </a:r>
            </a:p>
          </p:txBody>
        </p:sp>
        <p:sp>
          <p:nvSpPr>
            <p:cNvPr id="84" name="tx84"/>
            <p:cNvSpPr/>
            <p:nvPr/>
          </p:nvSpPr>
          <p:spPr>
            <a:xfrm rot="-5400000">
              <a:off x="493455" y="3662607"/>
              <a:ext cx="626729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5703703" y="1810089"/>
              <a:ext cx="190001" cy="190001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616152" y="1810089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6022305" y="1838476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934754" y="1838476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23472" y="1353372"/>
              <a:ext cx="709995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USFS Tree Canopy Cover, 30 m cells inside each sale footprint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23472" y="982552"/>
              <a:ext cx="7160849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in each canopy cover bin, 2020 vs. 2025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411480"/>
            <a:ext cx="10972800" cy="6035040"/>
            <a:chOff x="609600" y="411480"/>
            <a:chExt cx="10972800" cy="6035040"/>
          </a:xfrm>
        </p:grpSpPr>
        <p:sp>
          <p:nvSpPr>
            <p:cNvPr id="3" name="rc3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357887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677059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996230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315402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634573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953745" y="1088897"/>
              <a:ext cx="0" cy="4209524"/>
            </a:xfrm>
            <a:custGeom>
              <a:avLst/>
              <a:pathLst>
                <a:path w="0" h="4209524">
                  <a:moveTo>
                    <a:pt x="0" y="42095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357887" y="1192071"/>
              <a:ext cx="6199667" cy="2888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57887" y="1604770"/>
              <a:ext cx="1510794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357887" y="2017468"/>
              <a:ext cx="1027825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57887" y="2430167"/>
              <a:ext cx="685313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57887" y="2842865"/>
              <a:ext cx="633779" cy="288888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57887" y="3255564"/>
              <a:ext cx="494208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357887" y="3668262"/>
              <a:ext cx="367413" cy="2888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57887" y="4080960"/>
              <a:ext cx="145705" cy="288888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357887" y="4493659"/>
              <a:ext cx="106668" cy="288888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357887" y="4906357"/>
              <a:ext cx="95447" cy="288888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10614943" y="1270679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54.6%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26069" y="1683377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13.3%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431607" y="209607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9.1%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071858" y="2508774"/>
              <a:ext cx="286572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37560" y="2921473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5.6%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897989" y="3334171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4.4%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771194" y="3746870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3.2%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549487" y="4159568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1.3%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510450" y="457226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0.9%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99228" y="4984965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265935" y="4995252"/>
              <a:ext cx="300654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Floodplain Systems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123197" y="4500258"/>
              <a:ext cx="314928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Jack Pine-Black Spruce Forest-Pine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685255" y="4664850"/>
              <a:ext cx="58722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Barrens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04494" y="4169855"/>
              <a:ext cx="35679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Pine(-Oak) Forest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169740" y="3674861"/>
              <a:ext cx="310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57157" y="3839453"/>
              <a:ext cx="301532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Forest-Northern Sugar Maple-Basswood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878858" y="3344458"/>
              <a:ext cx="239362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Acidic Peatland Systems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78413" y="2849464"/>
              <a:ext cx="33940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Pine-Hemlock-Hardwood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04584" y="3014056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660407" y="2436765"/>
              <a:ext cx="26120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White Spruce-Fir-Hardwood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181329" y="2601357"/>
              <a:ext cx="1091153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Forest-Coastal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660407" y="2024067"/>
              <a:ext cx="26120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 White Spruce-Fir-Hardwood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78713" y="2188659"/>
              <a:ext cx="9937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Forest-Inland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31194" y="1611368"/>
              <a:ext cx="35412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Alkaline Conifer-Hardwood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12412" y="1775960"/>
              <a:ext cx="5600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Swamp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169740" y="1198670"/>
              <a:ext cx="310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084860" y="1363262"/>
              <a:ext cx="11876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Forest-Hemlock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09378" y="5383826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61774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100,000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80945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200,000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000117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300,000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319288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400,000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638460" y="5383826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500,000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661635" y="5574102"/>
              <a:ext cx="522122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5498074" y="6049548"/>
              <a:ext cx="194910" cy="194910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456141" y="6049548"/>
              <a:ext cx="194910" cy="1949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638144" y="6049548"/>
              <a:ext cx="194910" cy="194910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9424018" y="6049548"/>
              <a:ext cx="194910" cy="194910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5800151" y="6091453"/>
              <a:ext cx="5488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758218" y="6091453"/>
              <a:ext cx="77275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940222" y="6091453"/>
              <a:ext cx="137662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Hardwood-Conifer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726095" y="6091453"/>
              <a:ext cx="63349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Riparian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04494" y="815512"/>
              <a:ext cx="6361663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Top 10 LANDFIRE Biophysical Settings (2020), percent of land area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04494" y="506374"/>
              <a:ext cx="500268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What the land would naturally support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411480"/>
            <a:ext cx="10972800" cy="6035040"/>
            <a:chOff x="609600" y="411480"/>
            <a:chExt cx="10972800" cy="6035040"/>
          </a:xfrm>
        </p:grpSpPr>
        <p:sp>
          <p:nvSpPr>
            <p:cNvPr id="3" name="rc3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409002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76718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44434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12150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879866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247582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409002" y="1184367"/>
              <a:ext cx="6155220" cy="2673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409002" y="1566246"/>
              <a:ext cx="1140958" cy="267315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09002" y="1948126"/>
              <a:ext cx="634206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409002" y="2330006"/>
              <a:ext cx="633644" cy="267315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409002" y="2711886"/>
              <a:ext cx="537543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409002" y="3093766"/>
              <a:ext cx="405258" cy="2673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409002" y="3475645"/>
              <a:ext cx="336059" cy="267315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409002" y="3857525"/>
              <a:ext cx="318913" cy="267315"/>
            </a:xfrm>
            <a:prstGeom prst="rect">
              <a:avLst/>
            </a:prstGeom>
            <a:solidFill>
              <a:srgbClr val="8C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409002" y="4239405"/>
              <a:ext cx="305079" cy="2673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409002" y="4621285"/>
              <a:ext cx="303768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10621610" y="1252188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52.3%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595855" y="1634068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9.7%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089103" y="201594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5.4%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088540" y="239782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5.4%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92439" y="277970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4.6%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860155" y="316158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3.4%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790955" y="354346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2.9%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773809" y="392534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2.7%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759975" y="430722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2.6%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758664" y="468910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47022" y="4699393"/>
              <a:ext cx="27765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 Jack Pine-Red Pine Forest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74846" y="4317513"/>
              <a:ext cx="3448751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Eastern Cool Temperate Pasture and Hayland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988391" y="3935633"/>
              <a:ext cx="133520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Developed-Roads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24498" y="3471458"/>
              <a:ext cx="339909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Boreal-Laurentian Conifer Acidic Swamp and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206841" y="3636050"/>
              <a:ext cx="111675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Treed Poor Fen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18590" y="3089578"/>
              <a:ext cx="330500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Sub-boreal Aspen-Birch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855699" y="3254170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84630" y="2707698"/>
              <a:ext cx="343896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Sub-boreal Mesic Balsam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49930" y="2872290"/>
              <a:ext cx="127366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Fir-Spruce Forest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29527" y="2325818"/>
              <a:ext cx="33940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Pine-Hemlock-Hardwood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55699" y="2490410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240972" y="2026234"/>
              <a:ext cx="308262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 Forest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2309" y="1562059"/>
              <a:ext cx="35412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Alkaline Conifer-Hardwood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763527" y="1726651"/>
              <a:ext cx="5600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Swamp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04494" y="1262475"/>
              <a:ext cx="3619103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 Forest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60493" y="5069475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461433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100,000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9149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200,000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196865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300,000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564581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400,000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932297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500,000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687193" y="5259752"/>
              <a:ext cx="522122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5882467" y="5735198"/>
              <a:ext cx="194910" cy="1949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882467" y="6049548"/>
              <a:ext cx="194910" cy="194910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175387" y="5735198"/>
              <a:ext cx="194910" cy="194910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175387" y="6049548"/>
              <a:ext cx="194910" cy="194910"/>
            </a:xfrm>
            <a:prstGeom prst="rect">
              <a:avLst/>
            </a:prstGeom>
            <a:solidFill>
              <a:srgbClr val="8C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8951477" y="5735198"/>
              <a:ext cx="194910" cy="1949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951477" y="6049548"/>
              <a:ext cx="194910" cy="194910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6184544" y="5777103"/>
              <a:ext cx="88367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Agricultural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184544" y="6091453"/>
              <a:ext cx="5488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477465" y="5777103"/>
              <a:ext cx="136684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Conifer-Hardwood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477465" y="6091453"/>
              <a:ext cx="133520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Developed-Roads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9253554" y="5777103"/>
              <a:ext cx="77275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253554" y="6091453"/>
              <a:ext cx="63349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Riparian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04494" y="815512"/>
              <a:ext cx="6878299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Top 10 LANDFIRE Existing Vegetation Types (2024), percent of land area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4494" y="506374"/>
              <a:ext cx="226963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What's there now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502920"/>
            <a:ext cx="10972800" cy="5852160"/>
            <a:chOff x="609600" y="502920"/>
            <a:chExt cx="10972800" cy="5852160"/>
          </a:xfrm>
        </p:grpSpPr>
        <p:sp>
          <p:nvSpPr>
            <p:cNvPr id="3" name="rc3"/>
            <p:cNvSpPr/>
            <p:nvPr/>
          </p:nvSpPr>
          <p:spPr>
            <a:xfrm>
              <a:off x="609600" y="502919"/>
              <a:ext cx="10972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502919"/>
              <a:ext cx="10972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736761" y="5572433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36761" y="4543445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61" y="3514457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36761" y="2485469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6761" y="1456481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371848" y="4689068"/>
              <a:ext cx="1270174" cy="883365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71848" y="2667050"/>
              <a:ext cx="1270174" cy="4130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371848" y="2167070"/>
              <a:ext cx="1270174" cy="499979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371848" y="3080119"/>
              <a:ext cx="1270174" cy="1608949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488805" y="5288190"/>
              <a:ext cx="1270174" cy="284243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488805" y="5003201"/>
              <a:ext cx="1270174" cy="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488805" y="4930666"/>
              <a:ext cx="1270174" cy="7253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488805" y="5003203"/>
              <a:ext cx="1270174" cy="284986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605762" y="5571754"/>
              <a:ext cx="1270174" cy="679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605762" y="4886573"/>
              <a:ext cx="1270174" cy="4468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605762" y="5333440"/>
              <a:ext cx="1270174" cy="2383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605762" y="2810897"/>
              <a:ext cx="1270174" cy="9386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605762" y="2820284"/>
              <a:ext cx="1270174" cy="206628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603329" y="2387814"/>
              <a:ext cx="1275039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10,735 acres/yr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613891" y="2621969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(1.25% of land)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69416" y="1743986"/>
              <a:ext cx="1275039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13,238 acres/yr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379977" y="1978141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(1.54% of land)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538082" y="4507582"/>
              <a:ext cx="117162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2,495 acres/yr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496934" y="4741737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(0.29% of land)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517964" y="550581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110965" y="4476831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4,000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110965" y="344784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8,000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94653" y="2418855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12,000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94653" y="1389867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16,000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412347" y="5674919"/>
              <a:ext cx="118917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Historical: all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418565" y="5872429"/>
              <a:ext cx="117674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disturbances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665092" y="5674919"/>
              <a:ext cx="917600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Historical: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54709" y="5872429"/>
              <a:ext cx="173836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structure-changing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930588" y="6069939"/>
              <a:ext cx="38660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only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377793" y="5674919"/>
              <a:ext cx="172611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Current (LANDFIRE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61984" y="5872429"/>
              <a:ext cx="1957730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average, 2010–2025)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-604007" y="3360733"/>
              <a:ext cx="282165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 per year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8867369" y="2800440"/>
              <a:ext cx="190001" cy="190001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867369" y="3019896"/>
              <a:ext cx="190001" cy="190001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8867369" y="3239352"/>
              <a:ext cx="190001" cy="1900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8867369" y="3458808"/>
              <a:ext cx="190001" cy="1900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8867369" y="3678264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8867369" y="3897720"/>
              <a:ext cx="190001" cy="190001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9185971" y="2828827"/>
              <a:ext cx="32625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9185971" y="3048283"/>
              <a:ext cx="216868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Wind, weather or stress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185971" y="3267739"/>
              <a:ext cx="164207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Insects or disease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85971" y="3487195"/>
              <a:ext cx="206398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Harvest or mechanical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85971" y="3706651"/>
              <a:ext cx="144264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Unknown cause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9185971" y="3926107"/>
              <a:ext cx="51901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23472" y="987612"/>
              <a:ext cx="1000317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All land, Houghton and Keweenaw counties. Historical: BpS models; current: LANDFIRE.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23472" y="616792"/>
              <a:ext cx="6690756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Disturbance per year: historical vs. current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594360"/>
            <a:ext cx="10972800" cy="5669280"/>
            <a:chOff x="609600" y="594360"/>
            <a:chExt cx="10972800" cy="5669280"/>
          </a:xfrm>
        </p:grpSpPr>
        <p:sp>
          <p:nvSpPr>
            <p:cNvPr id="3" name="rc3"/>
            <p:cNvSpPr/>
            <p:nvPr/>
          </p:nvSpPr>
          <p:spPr>
            <a:xfrm>
              <a:off x="609600" y="594360"/>
              <a:ext cx="10972800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594360"/>
              <a:ext cx="10972799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736761" y="5406742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36761" y="4330799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61" y="3254856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36761" y="2178913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049441" y="5277815"/>
              <a:ext cx="316638" cy="1289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49441" y="3570666"/>
              <a:ext cx="316638" cy="210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049441" y="3572772"/>
              <a:ext cx="316638" cy="170504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45239" y="5262549"/>
              <a:ext cx="316638" cy="1441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45239" y="2930868"/>
              <a:ext cx="316638" cy="24024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445239" y="2954892"/>
              <a:ext cx="316638" cy="230765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841036" y="5213974"/>
              <a:ext cx="316638" cy="1927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41036" y="3205184"/>
              <a:ext cx="316638" cy="6843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841036" y="3212027"/>
              <a:ext cx="316638" cy="200194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236834" y="5194927"/>
              <a:ext cx="316638" cy="2051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236834" y="5400042"/>
              <a:ext cx="316638" cy="66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36834" y="4465111"/>
              <a:ext cx="316638" cy="65228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236834" y="4530339"/>
              <a:ext cx="316638" cy="66458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632631" y="5264559"/>
              <a:ext cx="316638" cy="14218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32631" y="4755984"/>
              <a:ext cx="316638" cy="10528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32631" y="4766513"/>
              <a:ext cx="316638" cy="49804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028429" y="5295618"/>
              <a:ext cx="316638" cy="1111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028429" y="4070148"/>
              <a:ext cx="316638" cy="122547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424226" y="5246756"/>
              <a:ext cx="316638" cy="1599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424226" y="3284865"/>
              <a:ext cx="316638" cy="196189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20024" y="4425198"/>
              <a:ext cx="316638" cy="5112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820024" y="4936453"/>
              <a:ext cx="316638" cy="4702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20024" y="2720250"/>
              <a:ext cx="316638" cy="170494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15821" y="4902953"/>
              <a:ext cx="316638" cy="4450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215821" y="5347974"/>
              <a:ext cx="316638" cy="587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215821" y="3208725"/>
              <a:ext cx="316638" cy="169422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611619" y="4752395"/>
              <a:ext cx="316638" cy="3266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611619" y="5079018"/>
              <a:ext cx="316638" cy="3277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611619" y="3136557"/>
              <a:ext cx="316638" cy="1615838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007416" y="5155685"/>
              <a:ext cx="316638" cy="2510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007416" y="3487730"/>
              <a:ext cx="316638" cy="1667954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403214" y="5405354"/>
              <a:ext cx="316638" cy="1387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6403214" y="4128486"/>
              <a:ext cx="316638" cy="6836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03214" y="4812121"/>
              <a:ext cx="316638" cy="5932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6403214" y="1597625"/>
              <a:ext cx="316638" cy="15553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403214" y="1613178"/>
              <a:ext cx="316638" cy="251530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6799011" y="5406359"/>
              <a:ext cx="316638" cy="382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799011" y="4371933"/>
              <a:ext cx="316638" cy="9767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799011" y="5348644"/>
              <a:ext cx="316638" cy="577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799011" y="1971243"/>
              <a:ext cx="316638" cy="240069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194809" y="4023536"/>
              <a:ext cx="316638" cy="6566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194809" y="4680227"/>
              <a:ext cx="316638" cy="7265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7194809" y="1750575"/>
              <a:ext cx="316638" cy="574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194809" y="1751149"/>
              <a:ext cx="316638" cy="227238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590606" y="5406646"/>
              <a:ext cx="316638" cy="95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590606" y="4747466"/>
              <a:ext cx="316638" cy="4869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590606" y="5234457"/>
              <a:ext cx="316638" cy="1721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590606" y="3534008"/>
              <a:ext cx="316638" cy="121345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986404" y="5399515"/>
              <a:ext cx="316638" cy="722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986404" y="4064405"/>
              <a:ext cx="316638" cy="5586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986404" y="4623038"/>
              <a:ext cx="316638" cy="7764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986404" y="1857679"/>
              <a:ext cx="316638" cy="76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986404" y="1858444"/>
              <a:ext cx="316638" cy="22059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736761" y="2558135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736761" y="4869900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049441" y="2462104"/>
              <a:ext cx="3227962" cy="192062"/>
            </a:xfrm>
            <a:custGeom>
              <a:avLst/>
              <a:pathLst>
                <a:path w="3227962" h="192062">
                  <a:moveTo>
                    <a:pt x="26017" y="192062"/>
                  </a:moveTo>
                  <a:lnTo>
                    <a:pt x="3201945" y="192062"/>
                  </a:lnTo>
                  <a:lnTo>
                    <a:pt x="3200897" y="192041"/>
                  </a:lnTo>
                  <a:lnTo>
                    <a:pt x="3205081" y="191873"/>
                  </a:lnTo>
                  <a:lnTo>
                    <a:pt x="3209183" y="191035"/>
                  </a:lnTo>
                  <a:lnTo>
                    <a:pt x="3213098" y="189550"/>
                  </a:lnTo>
                  <a:lnTo>
                    <a:pt x="3216724" y="187457"/>
                  </a:lnTo>
                  <a:lnTo>
                    <a:pt x="3219967" y="184809"/>
                  </a:lnTo>
                  <a:lnTo>
                    <a:pt x="3222744" y="181675"/>
                  </a:lnTo>
                  <a:lnTo>
                    <a:pt x="3224982" y="178136"/>
                  </a:lnTo>
                  <a:lnTo>
                    <a:pt x="3226623" y="174284"/>
                  </a:lnTo>
                  <a:lnTo>
                    <a:pt x="3227625" y="170219"/>
                  </a:lnTo>
                  <a:lnTo>
                    <a:pt x="3227962" y="166045"/>
                  </a:lnTo>
                  <a:lnTo>
                    <a:pt x="3227962" y="26017"/>
                  </a:lnTo>
                  <a:lnTo>
                    <a:pt x="3227625" y="21843"/>
                  </a:lnTo>
                  <a:lnTo>
                    <a:pt x="3226623" y="17778"/>
                  </a:lnTo>
                  <a:lnTo>
                    <a:pt x="3224982" y="13926"/>
                  </a:lnTo>
                  <a:lnTo>
                    <a:pt x="3222744" y="10387"/>
                  </a:lnTo>
                  <a:lnTo>
                    <a:pt x="3219967" y="7253"/>
                  </a:lnTo>
                  <a:lnTo>
                    <a:pt x="3216724" y="4605"/>
                  </a:lnTo>
                  <a:lnTo>
                    <a:pt x="3213098" y="2511"/>
                  </a:lnTo>
                  <a:lnTo>
                    <a:pt x="3209183" y="1027"/>
                  </a:lnTo>
                  <a:lnTo>
                    <a:pt x="3205081" y="189"/>
                  </a:lnTo>
                  <a:lnTo>
                    <a:pt x="3201945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6045"/>
                  </a:lnTo>
                  <a:lnTo>
                    <a:pt x="84" y="163952"/>
                  </a:lnTo>
                  <a:lnTo>
                    <a:pt x="84" y="168139"/>
                  </a:lnTo>
                  <a:lnTo>
                    <a:pt x="756" y="172272"/>
                  </a:lnTo>
                  <a:lnTo>
                    <a:pt x="2081" y="176243"/>
                  </a:lnTo>
                  <a:lnTo>
                    <a:pt x="4027" y="179950"/>
                  </a:lnTo>
                  <a:lnTo>
                    <a:pt x="6543" y="183298"/>
                  </a:lnTo>
                  <a:lnTo>
                    <a:pt x="9562" y="186198"/>
                  </a:lnTo>
                  <a:lnTo>
                    <a:pt x="13008" y="188577"/>
                  </a:lnTo>
                  <a:lnTo>
                    <a:pt x="16791" y="190372"/>
                  </a:lnTo>
                  <a:lnTo>
                    <a:pt x="20813" y="191537"/>
                  </a:lnTo>
                  <a:lnTo>
                    <a:pt x="24969" y="192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092803" y="2505466"/>
              <a:ext cx="3141238" cy="105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Historical, all disturbances: 13,238 acres/yr</a:t>
              </a:r>
            </a:p>
          </p:txBody>
        </p:sp>
        <p:sp>
          <p:nvSpPr>
            <p:cNvPr id="66" name="pg66"/>
            <p:cNvSpPr/>
            <p:nvPr/>
          </p:nvSpPr>
          <p:spPr>
            <a:xfrm>
              <a:off x="2049441" y="4773868"/>
              <a:ext cx="3365213" cy="192062"/>
            </a:xfrm>
            <a:custGeom>
              <a:avLst/>
              <a:pathLst>
                <a:path w="3365213" h="192062">
                  <a:moveTo>
                    <a:pt x="26017" y="192062"/>
                  </a:moveTo>
                  <a:lnTo>
                    <a:pt x="3339196" y="192062"/>
                  </a:lnTo>
                  <a:lnTo>
                    <a:pt x="3338148" y="192041"/>
                  </a:lnTo>
                  <a:lnTo>
                    <a:pt x="3342332" y="191873"/>
                  </a:lnTo>
                  <a:lnTo>
                    <a:pt x="3346434" y="191035"/>
                  </a:lnTo>
                  <a:lnTo>
                    <a:pt x="3350349" y="189550"/>
                  </a:lnTo>
                  <a:lnTo>
                    <a:pt x="3353976" y="187457"/>
                  </a:lnTo>
                  <a:lnTo>
                    <a:pt x="3357219" y="184809"/>
                  </a:lnTo>
                  <a:lnTo>
                    <a:pt x="3359995" y="181675"/>
                  </a:lnTo>
                  <a:lnTo>
                    <a:pt x="3362233" y="178136"/>
                  </a:lnTo>
                  <a:lnTo>
                    <a:pt x="3363874" y="174284"/>
                  </a:lnTo>
                  <a:lnTo>
                    <a:pt x="3364876" y="170219"/>
                  </a:lnTo>
                  <a:lnTo>
                    <a:pt x="3365213" y="166045"/>
                  </a:lnTo>
                  <a:lnTo>
                    <a:pt x="3365213" y="26017"/>
                  </a:lnTo>
                  <a:lnTo>
                    <a:pt x="3364876" y="21843"/>
                  </a:lnTo>
                  <a:lnTo>
                    <a:pt x="3363874" y="17778"/>
                  </a:lnTo>
                  <a:lnTo>
                    <a:pt x="3362233" y="13926"/>
                  </a:lnTo>
                  <a:lnTo>
                    <a:pt x="3359995" y="10387"/>
                  </a:lnTo>
                  <a:lnTo>
                    <a:pt x="3357219" y="7253"/>
                  </a:lnTo>
                  <a:lnTo>
                    <a:pt x="3353976" y="4605"/>
                  </a:lnTo>
                  <a:lnTo>
                    <a:pt x="3350349" y="2511"/>
                  </a:lnTo>
                  <a:lnTo>
                    <a:pt x="3346434" y="1027"/>
                  </a:lnTo>
                  <a:lnTo>
                    <a:pt x="3342332" y="189"/>
                  </a:lnTo>
                  <a:lnTo>
                    <a:pt x="3339196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6045"/>
                  </a:lnTo>
                  <a:lnTo>
                    <a:pt x="84" y="163952"/>
                  </a:lnTo>
                  <a:lnTo>
                    <a:pt x="84" y="168139"/>
                  </a:lnTo>
                  <a:lnTo>
                    <a:pt x="756" y="172272"/>
                  </a:lnTo>
                  <a:lnTo>
                    <a:pt x="2081" y="176243"/>
                  </a:lnTo>
                  <a:lnTo>
                    <a:pt x="4027" y="179950"/>
                  </a:lnTo>
                  <a:lnTo>
                    <a:pt x="6543" y="183298"/>
                  </a:lnTo>
                  <a:lnTo>
                    <a:pt x="9562" y="186198"/>
                  </a:lnTo>
                  <a:lnTo>
                    <a:pt x="13008" y="188577"/>
                  </a:lnTo>
                  <a:lnTo>
                    <a:pt x="16791" y="190372"/>
                  </a:lnTo>
                  <a:lnTo>
                    <a:pt x="20813" y="191537"/>
                  </a:lnTo>
                  <a:lnTo>
                    <a:pt x="24969" y="192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2092803" y="4817230"/>
              <a:ext cx="3278489" cy="105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Historical, structure-changing: 2,495 acres/yr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517964" y="5340128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110965" y="4264185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5,000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53" y="3188242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94653" y="2112299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15,000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185775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225354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2011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264934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304514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2013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344094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77" name="tx77"/>
            <p:cNvSpPr/>
            <p:nvPr/>
          </p:nvSpPr>
          <p:spPr>
            <a:xfrm rot="-2700000">
              <a:off x="383673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78" name="tx78"/>
            <p:cNvSpPr/>
            <p:nvPr/>
          </p:nvSpPr>
          <p:spPr>
            <a:xfrm rot="-2700000">
              <a:off x="423253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79" name="tx79"/>
            <p:cNvSpPr/>
            <p:nvPr/>
          </p:nvSpPr>
          <p:spPr>
            <a:xfrm rot="-2700000">
              <a:off x="462833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80" name="tx80"/>
            <p:cNvSpPr/>
            <p:nvPr/>
          </p:nvSpPr>
          <p:spPr>
            <a:xfrm rot="-2700000">
              <a:off x="502413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81" name="tx81"/>
            <p:cNvSpPr/>
            <p:nvPr/>
          </p:nvSpPr>
          <p:spPr>
            <a:xfrm rot="-2700000">
              <a:off x="541992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82" name="tx82"/>
            <p:cNvSpPr/>
            <p:nvPr/>
          </p:nvSpPr>
          <p:spPr>
            <a:xfrm rot="-2700000">
              <a:off x="581572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83" name="tx83"/>
            <p:cNvSpPr/>
            <p:nvPr/>
          </p:nvSpPr>
          <p:spPr>
            <a:xfrm rot="-2700000">
              <a:off x="621152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84" name="tx84"/>
            <p:cNvSpPr/>
            <p:nvPr/>
          </p:nvSpPr>
          <p:spPr>
            <a:xfrm rot="-2700000">
              <a:off x="660732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85" name="tx85"/>
            <p:cNvSpPr/>
            <p:nvPr/>
          </p:nvSpPr>
          <p:spPr>
            <a:xfrm rot="-2700000">
              <a:off x="700311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86" name="tx86"/>
            <p:cNvSpPr/>
            <p:nvPr/>
          </p:nvSpPr>
          <p:spPr>
            <a:xfrm rot="-2700000">
              <a:off x="739891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87" name="tx87"/>
            <p:cNvSpPr/>
            <p:nvPr/>
          </p:nvSpPr>
          <p:spPr>
            <a:xfrm rot="-2700000">
              <a:off x="779471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-86411" y="3418836"/>
              <a:ext cx="1786463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972068" y="2968270"/>
              <a:ext cx="190001" cy="190001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972068" y="3187726"/>
              <a:ext cx="190001" cy="1900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8972068" y="3407182"/>
              <a:ext cx="190001" cy="1900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8972068" y="3626638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972068" y="3846094"/>
              <a:ext cx="190001" cy="190001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9290670" y="2996657"/>
              <a:ext cx="32625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Fire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9290670" y="3216113"/>
              <a:ext cx="164207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Insects or disease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290670" y="3435569"/>
              <a:ext cx="206398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Harvest or mechanical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9290670" y="3655025"/>
              <a:ext cx="144264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Unknown cause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9290670" y="3874481"/>
              <a:ext cx="51901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23472" y="1079052"/>
              <a:ext cx="8542324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LANDFIRE Annual Disturbance, all land, Houghton and Keweenaw counties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23472" y="708232"/>
              <a:ext cx="8669152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 each year vs. the historical expectation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Where TRG's land went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548640" y="1463040"/>
          <a:ext cx="11094720" cy="27432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1849120"/>
                <a:gridCol w="1849120"/>
                <a:gridCol w="1849120"/>
                <a:gridCol w="1849120"/>
                <a:gridCol w="1849120"/>
                <a:gridCol w="1849120"/>
              </a:tblGrid>
              <a:tr h="685800">
                <a:tc>
                  <a:txBody>
                    <a:bodyPr/>
                    <a:lstStyle/>
                    <a:p>
                      <a:pPr algn="r"/>
                      <a:r>
                        <a:t>2020 →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Parcels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Canopy 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Canopy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 heavily cut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101,301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73.4%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6,837 (6.7%)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 → The Nature Conservancy (Heartlands)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30,813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70.5%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 (0.0%)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Verdant → American Songbird (2026)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15,350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72.7%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3,097 (20.2%)</a:t>
                      </a:r>
                    </a:p>
                  </a:txBody>
                </a:tc>
              </a:tr>
              <a:tr h="685800">
                <a:tc>
                  <a:txBody>
                    <a:bodyPr/>
                    <a:lstStyle/>
                    <a:p>
                      <a:pPr algn="r"/>
                      <a:r>
                        <a:t>TRG → other owners / left CFP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17,361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73.9%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46 (0.3%)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Big companies vs. other private owners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548640" y="1463040"/>
          <a:ext cx="11094720" cy="274320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2773680"/>
                <a:gridCol w="2773680"/>
                <a:gridCol w="2773680"/>
                <a:gridCol w="2773680"/>
              </a:tblGrid>
              <a:tr h="1371600">
                <a:tc>
                  <a:txBody>
                    <a:bodyPr/>
                    <a:lstStyle/>
                    <a:p>
                      <a:pPr algn="r"/>
                      <a:r>
                        <a:t> 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Acres heavily cut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Share</a:t>
                      </a:r>
                    </a:p>
                  </a:txBody>
                </a:tc>
              </a:tr>
              <a:tr h="1371600">
                <a:tc>
                  <a:txBody>
                    <a:bodyPr/>
                    <a:lstStyle/>
                    <a:p>
                      <a:pPr algn="r"/>
                      <a:r>
                        <a:t>Institutional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171,890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6.6%</a:t>
                      </a:r>
                    </a:p>
                  </a:txBody>
                </a:tc>
              </a:tr>
              <a:tr h="1371600">
                <a:tc>
                  <a:txBody>
                    <a:bodyPr/>
                    <a:lstStyle/>
                    <a:p>
                      <a:pPr algn="r"/>
                      <a:r>
                        <a:t>Other private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158,203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0.6%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2026-10-14T07:57:57Z</dcterms:modified>
  <cp:category/>
</cp:coreProperties>
</file>